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69" r:id="rId3"/>
    <p:sldId id="257" r:id="rId4"/>
    <p:sldId id="274" r:id="rId5"/>
    <p:sldId id="276" r:id="rId6"/>
    <p:sldId id="290" r:id="rId7"/>
    <p:sldId id="292" r:id="rId8"/>
    <p:sldId id="284" r:id="rId9"/>
    <p:sldId id="291" r:id="rId10"/>
    <p:sldId id="293" r:id="rId11"/>
    <p:sldId id="296" r:id="rId12"/>
    <p:sldId id="297" r:id="rId13"/>
    <p:sldId id="298" r:id="rId14"/>
    <p:sldId id="302" r:id="rId15"/>
    <p:sldId id="303" r:id="rId16"/>
    <p:sldId id="305" r:id="rId17"/>
    <p:sldId id="270" r:id="rId18"/>
    <p:sldId id="304" r:id="rId19"/>
    <p:sldId id="294" r:id="rId20"/>
    <p:sldId id="265"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1E33F0-B39F-8742-1493-E12D13E1E5EA}" v="109" dt="2026-04-21T08:48:07.288"/>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Amisha170/University-Project-CSE7302-Image-based-breed-recognition-for-cattle-and-buffaloes-of-Indi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a:solidFill>
                  <a:schemeClr val="tx1"/>
                </a:solidFill>
                <a:latin typeface="Cambria"/>
                <a:ea typeface="Cambria"/>
              </a:rPr>
              <a:t>Image based breed recognition for cattle and buffaloes  of  India</a:t>
            </a:r>
            <a:endParaRPr lang="en-GB" sz="240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COM_10</a:t>
            </a:r>
            <a:endParaRPr sz="180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a:solidFill>
                  <a:srgbClr val="17365D"/>
                </a:solidFill>
                <a:latin typeface="Cambria"/>
                <a:ea typeface="Cambria"/>
                <a:cs typeface="Verdana"/>
                <a:sym typeface="Verdana"/>
              </a:rPr>
              <a:t>Dr./Mr./Ms./Prof.</a:t>
            </a:r>
            <a:r>
              <a:rPr lang="en-GB" sz="1700" b="1">
                <a:solidFill>
                  <a:srgbClr val="17365D"/>
                </a:solidFill>
                <a:latin typeface="Cambria"/>
                <a:ea typeface="Cambria"/>
                <a:cs typeface="Verdana"/>
                <a:sym typeface="Verdana"/>
              </a:rPr>
              <a:t>  Murali Parameswaran </a:t>
            </a:r>
            <a:endParaRPr lang="en-GB" sz="1700" b="1">
              <a:solidFill>
                <a:srgbClr val="17365D"/>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a:solidFill>
                  <a:srgbClr val="17365D"/>
                </a:solidFill>
                <a:latin typeface="Cambria" panose="02040503050406030204" pitchFamily="18" charset="0"/>
                <a:ea typeface="Cambria" panose="02040503050406030204" pitchFamily="18" charset="0"/>
                <a:cs typeface="Verdana"/>
                <a:sym typeface="Verdana"/>
              </a:rPr>
              <a:t>Presidency University</a:t>
            </a:r>
            <a:endParaRPr>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7792147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algn="ctr">
              <a:buClr>
                <a:srgbClr val="17365D"/>
              </a:buClr>
              <a:buSzPct val="100000"/>
            </a:pPr>
            <a:r>
              <a:rPr lang="en-GB" sz="1800" b="1">
                <a:solidFill>
                  <a:srgbClr val="17365D"/>
                </a:solidFill>
                <a:latin typeface="Cambria"/>
                <a:ea typeface="Cambria"/>
                <a:cs typeface="Verdana"/>
                <a:sym typeface="Verdana"/>
              </a:rPr>
              <a:t>CSE7302 – University Project</a:t>
            </a:r>
            <a:endParaRPr sz="1800" b="1" i="0" u="none" strike="noStrike" cap="none">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a:t>
            </a:r>
            <a:r>
              <a:rPr lang="en-US" sz="1800" b="1">
                <a:solidFill>
                  <a:schemeClr val="tx1"/>
                </a:solidFill>
                <a:latin typeface="Cambria"/>
                <a:ea typeface="Cambria"/>
                <a:cs typeface="Verdana"/>
                <a:sym typeface="Verdana"/>
              </a:rPr>
              <a:t>Computer Engineering</a:t>
            </a:r>
            <a:endParaRPr lang="en-US" sz="1800" b="1" i="0" u="none" strike="noStrike" cap="none">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dirty="0">
                <a:solidFill>
                  <a:schemeClr val="accent1"/>
                </a:solidFill>
                <a:latin typeface="Cambria"/>
                <a:ea typeface="Cambria"/>
                <a:cs typeface="Verdana"/>
                <a:sym typeface="Verdana"/>
              </a:rPr>
              <a:t>Name of the </a:t>
            </a:r>
            <a:r>
              <a:rPr lang="en-US" sz="1800" b="1" dirty="0" err="1">
                <a:solidFill>
                  <a:schemeClr val="accent1"/>
                </a:solidFill>
                <a:latin typeface="Cambria"/>
                <a:ea typeface="Cambria"/>
                <a:cs typeface="Verdana"/>
                <a:sym typeface="Verdana"/>
              </a:rPr>
              <a:t>HoD</a:t>
            </a:r>
            <a:r>
              <a:rPr lang="en-US" sz="1800" b="1" dirty="0">
                <a:solidFill>
                  <a:schemeClr val="accent1"/>
                </a:solidFill>
                <a:latin typeface="Cambria"/>
                <a:ea typeface="Cambria"/>
                <a:cs typeface="Verdana"/>
                <a:sym typeface="Verdana"/>
              </a:rPr>
              <a:t>:  </a:t>
            </a:r>
            <a:r>
              <a:rPr lang="en-US" sz="1800" b="1" dirty="0" err="1">
                <a:solidFill>
                  <a:schemeClr val="tx1"/>
                </a:solidFill>
                <a:latin typeface="Cambria"/>
                <a:ea typeface="Cambria"/>
                <a:cs typeface="Verdana"/>
                <a:sym typeface="Verdana"/>
              </a:rPr>
              <a:t>Dr.Gopal</a:t>
            </a:r>
            <a:r>
              <a:rPr lang="en-US" sz="1800" b="1" dirty="0">
                <a:solidFill>
                  <a:schemeClr val="tx1"/>
                </a:solidFill>
                <a:latin typeface="Cambria"/>
                <a:ea typeface="Cambria"/>
                <a:cs typeface="Verdana"/>
                <a:sym typeface="Verdana"/>
              </a:rPr>
              <a:t> </a:t>
            </a:r>
            <a:r>
              <a:rPr lang="en-US" sz="1800" b="1" dirty="0" err="1">
                <a:solidFill>
                  <a:schemeClr val="tx1"/>
                </a:solidFill>
                <a:latin typeface="Cambria"/>
                <a:ea typeface="Cambria"/>
                <a:cs typeface="Verdana"/>
                <a:sym typeface="Verdana"/>
              </a:rPr>
              <a:t>krishna</a:t>
            </a:r>
            <a:r>
              <a:rPr lang="en-US" sz="1800" b="1" dirty="0">
                <a:solidFill>
                  <a:schemeClr val="tx1"/>
                </a:solidFill>
                <a:latin typeface="Cambria"/>
                <a:ea typeface="Cambria"/>
                <a:cs typeface="Verdana"/>
                <a:sym typeface="Verdana"/>
              </a:rPr>
              <a:t> </a:t>
            </a:r>
            <a:r>
              <a:rPr lang="en-US" sz="1800" b="1" dirty="0" err="1">
                <a:solidFill>
                  <a:schemeClr val="tx1"/>
                </a:solidFill>
                <a:latin typeface="Cambria"/>
                <a:ea typeface="Cambria"/>
                <a:cs typeface="Verdana"/>
                <a:sym typeface="Verdana"/>
              </a:rPr>
              <a:t>shyam</a:t>
            </a:r>
            <a:endParaRPr lang="en-US" sz="1800" b="1" dirty="0" err="1">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i="0" u="none" strike="noStrike" cap="none" dirty="0">
                <a:solidFill>
                  <a:schemeClr val="accent1"/>
                </a:solidFill>
                <a:latin typeface="Cambria"/>
                <a:ea typeface="Cambria"/>
                <a:cs typeface="Verdana"/>
                <a:sym typeface="Verdana"/>
              </a:rPr>
              <a:t>Name of the Program Project Coordinator</a:t>
            </a:r>
            <a:r>
              <a:rPr lang="en-US" sz="1800" b="1" dirty="0">
                <a:solidFill>
                  <a:schemeClr val="accent1"/>
                </a:solidFill>
                <a:latin typeface="Cambria"/>
                <a:ea typeface="Cambria"/>
                <a:cs typeface="Verdana"/>
                <a:sym typeface="Verdana"/>
              </a:rPr>
              <a:t>:</a:t>
            </a:r>
            <a:r>
              <a:rPr lang="en-US" sz="1800" b="1" dirty="0">
                <a:solidFill>
                  <a:schemeClr val="tx1">
                    <a:lumMod val="95000"/>
                    <a:lumOff val="5000"/>
                  </a:schemeClr>
                </a:solidFill>
                <a:latin typeface="Cambria"/>
                <a:ea typeface="Cambria"/>
                <a:cs typeface="Verdana"/>
                <a:sym typeface="Verdana"/>
              </a:rPr>
              <a:t> Ms. Sumitha </a:t>
            </a:r>
            <a:r>
              <a:rPr lang="en-US" sz="1800" b="1" dirty="0" err="1">
                <a:solidFill>
                  <a:schemeClr val="tx1">
                    <a:lumMod val="95000"/>
                    <a:lumOff val="5000"/>
                  </a:schemeClr>
                </a:solidFill>
                <a:latin typeface="Cambria"/>
                <a:ea typeface="Cambria"/>
                <a:cs typeface="Verdana"/>
                <a:sym typeface="Verdana"/>
              </a:rPr>
              <a:t>Guddin</a:t>
            </a:r>
            <a:endParaRPr lang="en-US" sz="1800" b="1" dirty="0" err="1">
              <a:solidFill>
                <a:schemeClr val="tx1">
                  <a:lumMod val="95000"/>
                  <a:lumOff val="5000"/>
                </a:schemeClr>
              </a:solidFill>
              <a:latin typeface="Cambria" panose="02040503050406030204" pitchFamily="18" charset="0"/>
              <a:ea typeface="Cambria" panose="02040503050406030204" pitchFamily="18" charset="0"/>
              <a:cs typeface="Verdana"/>
            </a:endParaRPr>
          </a:p>
          <a:p>
            <a:pPr lvl="0">
              <a:buClr>
                <a:srgbClr val="17365D"/>
              </a:buClr>
              <a:buSzPct val="100000"/>
            </a:pPr>
            <a:r>
              <a:rPr lang="en-US" sz="1800" b="1">
                <a:solidFill>
                  <a:schemeClr val="accent1"/>
                </a:solidFill>
                <a:latin typeface="Cambria"/>
                <a:ea typeface="Cambria"/>
                <a:cs typeface="Verdana"/>
                <a:sym typeface="Verdana"/>
              </a:rPr>
              <a:t>Name of the School Project Coordinators: </a:t>
            </a:r>
            <a:r>
              <a:rPr lang="en-US" sz="1800" b="1" i="0" u="none" strike="noStrike" cap="none">
                <a:solidFill>
                  <a:schemeClr val="tx1"/>
                </a:solidFill>
                <a:latin typeface="Cambria"/>
                <a:ea typeface="Cambria"/>
                <a:cs typeface="Verdana"/>
                <a:sym typeface="Verdana"/>
              </a:rPr>
              <a:t>Dr. Sampath A K , Dr. Geetha A </a:t>
            </a:r>
            <a:endParaRPr sz="1800" b="1" i="0" u="none" strike="noStrike" cap="none">
              <a:solidFill>
                <a:schemeClr val="tx1"/>
              </a:solidFill>
              <a:latin typeface="Cambria"/>
              <a:ea typeface="Cambria"/>
              <a:cs typeface="Verdana"/>
              <a:sym typeface="Verdana"/>
            </a:endParaRPr>
          </a:p>
        </p:txBody>
      </p:sp>
      <p:graphicFrame>
        <p:nvGraphicFramePr>
          <p:cNvPr id="2" name="Table 1">
            <a:extLst>
              <a:ext uri="{FF2B5EF4-FFF2-40B4-BE49-F238E27FC236}">
                <a16:creationId xmlns:a16="http://schemas.microsoft.com/office/drawing/2014/main" id="{AC8B6687-4F95-413E-EEB8-2A8711E43EDA}"/>
              </a:ext>
            </a:extLst>
          </p:cNvPr>
          <p:cNvGraphicFramePr>
            <a:graphicFrameLocks noGrp="1"/>
          </p:cNvGraphicFramePr>
          <p:nvPr>
            <p:extLst>
              <p:ext uri="{D42A27DB-BD31-4B8C-83A1-F6EECF244321}">
                <p14:modId xmlns:p14="http://schemas.microsoft.com/office/powerpoint/2010/main" val="3849025746"/>
              </p:ext>
            </p:extLst>
          </p:nvPr>
        </p:nvGraphicFramePr>
        <p:xfrm>
          <a:off x="404173" y="2768294"/>
          <a:ext cx="5561994" cy="1127760"/>
        </p:xfrm>
        <a:graphic>
          <a:graphicData uri="http://schemas.openxmlformats.org/drawingml/2006/table">
            <a:tbl>
              <a:tblPr firstRow="1" bandRow="1"/>
              <a:tblGrid>
                <a:gridCol w="2780997">
                  <a:extLst>
                    <a:ext uri="{9D8B030D-6E8A-4147-A177-3AD203B41FA5}">
                      <a16:colId xmlns:a16="http://schemas.microsoft.com/office/drawing/2014/main" val="973894710"/>
                    </a:ext>
                  </a:extLst>
                </a:gridCol>
                <a:gridCol w="2780997">
                  <a:extLst>
                    <a:ext uri="{9D8B030D-6E8A-4147-A177-3AD203B41FA5}">
                      <a16:colId xmlns:a16="http://schemas.microsoft.com/office/drawing/2014/main" val="372835794"/>
                    </a:ext>
                  </a:extLst>
                </a:gridCol>
              </a:tblGrid>
              <a:tr h="312345">
                <a:tc>
                  <a:txBody>
                    <a:bodyPr/>
                    <a:lstStyle/>
                    <a:p>
                      <a:r>
                        <a:rPr lang="en-US"/>
                        <a:t>  </a:t>
                      </a:r>
                      <a:r>
                        <a:rPr lang="en-US" sz="1800"/>
                        <a:t>      </a:t>
                      </a:r>
                      <a:r>
                        <a:rPr lang="en-US" sz="2000">
                          <a:solidFill>
                            <a:schemeClr val="accent1">
                              <a:lumMod val="49000"/>
                            </a:schemeClr>
                          </a:solidFill>
                        </a:rPr>
                        <a:t>Student Name</a:t>
                      </a:r>
                    </a:p>
                  </a:txBody>
                  <a:tcPr/>
                </a:tc>
                <a:tc>
                  <a:txBody>
                    <a:bodyPr/>
                    <a:lstStyle/>
                    <a:p>
                      <a:r>
                        <a:rPr lang="en-US"/>
                        <a:t>  </a:t>
                      </a:r>
                      <a:r>
                        <a:rPr lang="en-US" sz="1800"/>
                        <a:t>        </a:t>
                      </a:r>
                      <a:r>
                        <a:rPr lang="en-US" sz="2000">
                          <a:solidFill>
                            <a:schemeClr val="accent1">
                              <a:lumMod val="49000"/>
                            </a:schemeClr>
                          </a:solidFill>
                        </a:rPr>
                        <a:t>Roll Number</a:t>
                      </a:r>
                    </a:p>
                  </a:txBody>
                  <a:tcPr/>
                </a:tc>
                <a:extLst>
                  <a:ext uri="{0D108BD9-81ED-4DB2-BD59-A6C34878D82A}">
                    <a16:rowId xmlns:a16="http://schemas.microsoft.com/office/drawing/2014/main" val="3701585278"/>
                  </a:ext>
                </a:extLst>
              </a:tr>
              <a:tr h="290805">
                <a:tc>
                  <a:txBody>
                    <a:bodyPr/>
                    <a:lstStyle/>
                    <a:p>
                      <a:r>
                        <a:rPr lang="en-US"/>
                        <a:t>           </a:t>
                      </a:r>
                      <a:r>
                        <a:rPr lang="en-US" sz="1800">
                          <a:solidFill>
                            <a:schemeClr val="tx1"/>
                          </a:solidFill>
                        </a:rPr>
                        <a:t>AMISHA</a:t>
                      </a:r>
                    </a:p>
                  </a:txBody>
                  <a:tcPr/>
                </a:tc>
                <a:tc>
                  <a:txBody>
                    <a:bodyPr/>
                    <a:lstStyle/>
                    <a:p>
                      <a:r>
                        <a:rPr lang="en-US"/>
                        <a:t>     </a:t>
                      </a:r>
                      <a:r>
                        <a:rPr lang="en-US" sz="1800">
                          <a:solidFill>
                            <a:schemeClr val="tx1"/>
                          </a:solidFill>
                        </a:rPr>
                        <a:t>20221COM0170</a:t>
                      </a:r>
                    </a:p>
                  </a:txBody>
                  <a:tcPr/>
                </a:tc>
                <a:extLst>
                  <a:ext uri="{0D108BD9-81ED-4DB2-BD59-A6C34878D82A}">
                    <a16:rowId xmlns:a16="http://schemas.microsoft.com/office/drawing/2014/main" val="147362171"/>
                  </a:ext>
                </a:extLst>
              </a:tr>
              <a:tr h="290805">
                <a:tc>
                  <a:txBody>
                    <a:bodyPr/>
                    <a:lstStyle/>
                    <a:p>
                      <a:r>
                        <a:rPr lang="en-US"/>
                        <a:t>           </a:t>
                      </a:r>
                      <a:r>
                        <a:rPr lang="en-US" sz="1800"/>
                        <a:t>KAVYA D K</a:t>
                      </a:r>
                    </a:p>
                  </a:txBody>
                  <a:tcPr/>
                </a:tc>
                <a:tc>
                  <a:txBody>
                    <a:bodyPr/>
                    <a:lstStyle/>
                    <a:p>
                      <a:r>
                        <a:rPr lang="en-US"/>
                        <a:t>     </a:t>
                      </a:r>
                      <a:r>
                        <a:rPr lang="en-US" sz="1800">
                          <a:solidFill>
                            <a:schemeClr val="tx1"/>
                          </a:solidFill>
                        </a:rPr>
                        <a:t>20221COM0179</a:t>
                      </a:r>
                    </a:p>
                  </a:txBody>
                  <a:tcPr/>
                </a:tc>
                <a:extLst>
                  <a:ext uri="{0D108BD9-81ED-4DB2-BD59-A6C34878D82A}">
                    <a16:rowId xmlns:a16="http://schemas.microsoft.com/office/drawing/2014/main" val="127691446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 Number:   SIH25004</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342900" indent="-190500" algn="just">
              <a:spcBef>
                <a:spcPts val="0"/>
              </a:spcBef>
              <a:buNone/>
            </a:pPr>
            <a:r>
              <a:rPr lang="en-US" b="1">
                <a:latin typeface="Cambria"/>
                <a:ea typeface="Cambria"/>
              </a:rPr>
              <a:t>Organization</a:t>
            </a:r>
            <a:r>
              <a:rPr lang="en-US">
                <a:latin typeface="Cambria"/>
                <a:ea typeface="Cambria"/>
              </a:rPr>
              <a:t>:  Presidency University</a:t>
            </a:r>
            <a:endParaRPr lang="en-US">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a:latin typeface="Cambria"/>
                <a:ea typeface="Cambria"/>
              </a:rPr>
              <a:t>Category </a:t>
            </a:r>
            <a:r>
              <a:rPr lang="en-US">
                <a:latin typeface="Cambria"/>
                <a:ea typeface="Cambria"/>
              </a:rPr>
              <a:t> :   Software</a:t>
            </a:r>
            <a:endParaRPr lang="en-US">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a:latin typeface="Cambria"/>
                <a:ea typeface="Cambria"/>
              </a:rPr>
              <a:t>Problem Description</a:t>
            </a:r>
            <a:r>
              <a:rPr lang="en-US">
                <a:latin typeface="Cambria"/>
                <a:ea typeface="Cambria"/>
              </a:rPr>
              <a:t>: - </a:t>
            </a:r>
            <a:r>
              <a:rPr lang="en-US" sz="2000">
                <a:latin typeface="Arial"/>
              </a:rPr>
              <a:t>The manual identification of cattle and buffalo breeds in India is time-consuming, error-prone, and highly dependent on expert knowledge. Due to variations in appearance, lighting, and image quality, traditional methods are inefficient and inconsistent. Hence, there is a need for an automated image-based breed recognition system using deep learning techniques to accurately identify Indian cattle and buffalo breeds from images.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Content</a:t>
            </a:r>
            <a:endParaRPr>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26138" y="641644"/>
            <a:ext cx="11054218" cy="581363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pPr>
            <a:r>
              <a:rPr lang="en-US" sz="2000">
                <a:latin typeface="Cambria"/>
                <a:ea typeface="Cambria"/>
              </a:rPr>
              <a:t>Problem Statement</a:t>
            </a:r>
            <a:endParaRPr lang="en-US"/>
          </a:p>
          <a:p>
            <a:pPr marL="495300" indent="-342900" algn="just">
              <a:lnSpc>
                <a:spcPct val="200000"/>
              </a:lnSpc>
              <a:spcBef>
                <a:spcPts val="0"/>
              </a:spcBef>
              <a:buFont typeface="Arial" panose="020B0604020202020204" pitchFamily="34" charset="0"/>
              <a:buChar char="•"/>
            </a:pPr>
            <a:r>
              <a:rPr lang="en-US" sz="2000">
                <a:latin typeface="Cambria"/>
                <a:ea typeface="Cambria"/>
              </a:rPr>
              <a:t>Objectives</a:t>
            </a:r>
          </a:p>
          <a:p>
            <a:pPr marL="495300" indent="-342900" algn="just">
              <a:lnSpc>
                <a:spcPct val="200000"/>
              </a:lnSpc>
              <a:spcBef>
                <a:spcPts val="0"/>
              </a:spcBef>
              <a:buFont typeface="Arial" panose="020B0604020202020204" pitchFamily="34" charset="0"/>
              <a:buChar char="•"/>
            </a:pPr>
            <a:r>
              <a:rPr lang="en-US" sz="2000">
                <a:latin typeface="Cambria"/>
                <a:ea typeface="Cambria"/>
              </a:rPr>
              <a:t>Algorithms  used</a:t>
            </a:r>
          </a:p>
          <a:p>
            <a:pPr marL="495300" indent="-342900" algn="just">
              <a:lnSpc>
                <a:spcPct val="200000"/>
              </a:lnSpc>
              <a:spcBef>
                <a:spcPts val="0"/>
              </a:spcBef>
              <a:buFont typeface="Arial" panose="020B0604020202020204" pitchFamily="34" charset="0"/>
              <a:buChar char="•"/>
            </a:pPr>
            <a:r>
              <a:rPr lang="en-US" sz="2000">
                <a:latin typeface="Cambria"/>
                <a:ea typeface="Cambria"/>
              </a:rPr>
              <a:t>System Architecture</a:t>
            </a:r>
          </a:p>
          <a:p>
            <a:pPr marL="495300" indent="-342900" algn="just">
              <a:lnSpc>
                <a:spcPct val="200000"/>
              </a:lnSpc>
              <a:spcBef>
                <a:spcPts val="0"/>
              </a:spcBef>
              <a:buFont typeface="Arial" panose="020B0604020202020204" pitchFamily="34" charset="0"/>
              <a:buChar char="•"/>
            </a:pPr>
            <a:r>
              <a:rPr lang="en-US" sz="2000">
                <a:latin typeface="Cambria"/>
                <a:ea typeface="Cambria"/>
              </a:rPr>
              <a:t>Models used</a:t>
            </a:r>
          </a:p>
          <a:p>
            <a:pPr marL="495300" indent="-342900" algn="just">
              <a:lnSpc>
                <a:spcPct val="200000"/>
              </a:lnSpc>
              <a:spcBef>
                <a:spcPts val="0"/>
              </a:spcBef>
              <a:buFont typeface="Arial" panose="020B0604020202020204" pitchFamily="34" charset="0"/>
              <a:buChar char="•"/>
            </a:pPr>
            <a:r>
              <a:rPr lang="en-US" sz="2000">
                <a:latin typeface="Cambria"/>
                <a:ea typeface="Cambria"/>
              </a:rPr>
              <a:t>Accuracy results </a:t>
            </a:r>
          </a:p>
          <a:p>
            <a:pPr marL="495300" indent="-342900" algn="just">
              <a:lnSpc>
                <a:spcPct val="200000"/>
              </a:lnSpc>
              <a:spcBef>
                <a:spcPts val="0"/>
              </a:spcBef>
              <a:buFont typeface="Arial" panose="020B0604020202020204" pitchFamily="34" charset="0"/>
              <a:buChar char="•"/>
            </a:pPr>
            <a:r>
              <a:rPr lang="en-US" sz="2000">
                <a:latin typeface="Cambria"/>
                <a:ea typeface="Cambria"/>
              </a:rPr>
              <a:t>Project Implementation </a:t>
            </a:r>
          </a:p>
          <a:p>
            <a:pPr marL="495300" indent="-342900" algn="just">
              <a:lnSpc>
                <a:spcPct val="200000"/>
              </a:lnSpc>
              <a:spcBef>
                <a:spcPts val="0"/>
              </a:spcBef>
              <a:buFont typeface="Arial" panose="020B0604020202020204" pitchFamily="34" charset="0"/>
              <a:buChar char="•"/>
            </a:pPr>
            <a:r>
              <a:rPr lang="en-US" sz="2000">
                <a:latin typeface="Cambria"/>
                <a:ea typeface="Cambria"/>
              </a:rPr>
              <a:t>Timeline of the project</a:t>
            </a:r>
          </a:p>
          <a:p>
            <a:pPr marL="495300" indent="-342900" algn="just">
              <a:lnSpc>
                <a:spcPct val="200000"/>
              </a:lnSpc>
              <a:spcBef>
                <a:spcPts val="0"/>
              </a:spcBef>
              <a:buFont typeface="Arial" panose="020B0604020202020204" pitchFamily="34" charset="0"/>
              <a:buChar char="•"/>
            </a:pPr>
            <a:r>
              <a:rPr lang="en-US" sz="2000">
                <a:latin typeface="Cambria"/>
                <a:ea typeface="Cambria"/>
              </a:rPr>
              <a:t>Conclusion </a:t>
            </a:r>
          </a:p>
          <a:p>
            <a:pPr marL="495300" indent="-342900" algn="just">
              <a:lnSpc>
                <a:spcPct val="200000"/>
              </a:lnSpc>
              <a:spcBef>
                <a:spcPts val="0"/>
              </a:spcBef>
              <a:buFont typeface="Arial" panose="020B0604020202020204" pitchFamily="34" charset="0"/>
              <a:buChar char="•"/>
            </a:pPr>
            <a:r>
              <a:rPr lang="en-US" sz="2000">
                <a:latin typeface="Cambria"/>
                <a:ea typeface="Cambria"/>
              </a:rPr>
              <a:t>References</a:t>
            </a:r>
          </a:p>
          <a:p>
            <a:pPr marL="495300" lvl="0" indent="-342900" algn="just">
              <a:lnSpc>
                <a:spcPct val="200000"/>
              </a:lnSpc>
              <a:spcBef>
                <a:spcPts val="0"/>
              </a:spcBef>
              <a:spcAft>
                <a:spcPts val="0"/>
              </a:spcAft>
              <a:buClr>
                <a:schemeClr val="dk1"/>
              </a:buClr>
              <a:buSzPts val="2400"/>
              <a:buFont typeface="Arial" panose="020B0604020202020204" pitchFamily="34" charset="0"/>
              <a:buChar char="•"/>
            </a:pPr>
            <a:endParaRPr lang="en-US" sz="200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5000000000000000000" pitchFamily="2" charset="2"/>
              <a:buChar char="•"/>
            </a:pPr>
            <a:endParaRPr lang="en-US" sz="180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5000000000000000000" pitchFamily="2" charset="2"/>
              <a:buChar char="•"/>
            </a:pP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5000000000000000000" pitchFamily="2" charset="2"/>
              <a:buChar char="•"/>
            </a:pPr>
            <a:endParaRPr lang="en-US">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a:t>
            </a:r>
            <a:endParaRPr lang="en-US"/>
          </a:p>
        </p:txBody>
      </p:sp>
      <p:sp>
        <p:nvSpPr>
          <p:cNvPr id="3" name="Text Placeholder 2">
            <a:extLst>
              <a:ext uri="{FF2B5EF4-FFF2-40B4-BE49-F238E27FC236}">
                <a16:creationId xmlns:a16="http://schemas.microsoft.com/office/drawing/2014/main" id="{76953854-2FC9-F5B8-2750-96E8BB83D013}"/>
              </a:ext>
            </a:extLst>
          </p:cNvPr>
          <p:cNvSpPr>
            <a:spLocks noGrp="1"/>
          </p:cNvSpPr>
          <p:nvPr>
            <p:ph type="body" idx="1"/>
          </p:nvPr>
        </p:nvSpPr>
        <p:spPr>
          <a:xfrm>
            <a:off x="635348" y="777659"/>
            <a:ext cx="10845452" cy="5318342"/>
          </a:xfrm>
        </p:spPr>
        <p:txBody>
          <a:bodyPr>
            <a:normAutofit/>
          </a:bodyPr>
          <a:lstStyle/>
          <a:p>
            <a:pPr algn="just">
              <a:buNone/>
            </a:pPr>
            <a:endParaRPr lang="en-US" sz="2000"/>
          </a:p>
          <a:p>
            <a:pPr algn="just">
              <a:lnSpc>
                <a:spcPct val="150000"/>
              </a:lnSpc>
              <a:buNone/>
            </a:pPr>
            <a:r>
              <a:rPr lang="en-US" sz="2000">
                <a:solidFill>
                  <a:srgbClr val="000000"/>
                </a:solidFill>
              </a:rPr>
              <a:t> </a:t>
            </a:r>
            <a:r>
              <a:rPr lang="en-US" sz="2000">
                <a:solidFill>
                  <a:srgbClr val="000000"/>
                </a:solidFill>
                <a:cs typeface="Arial"/>
              </a:rPr>
              <a:t>   Manual identification of Indian cattle and buffalo breeds is a time-consuming and expertise-dependent process, often leading to errors that hinder effective livestock management, breed conservation efforts, and optimal breeding programs. With over 70 distinct indigenous breeds at risk of decline, there is an urgent need for an automated, accessible system that can accurately recognize breeds from images. This project addresses this gap by developing a deep learning‑based recognition system that leverages multiple convolutional neural network architectures to classify breeds from photographs, enabling farmers, researchers, and conservationists to identify animals quickly and reliably.</a:t>
            </a:r>
            <a:endParaRPr lang="en-US" sz="2000">
              <a:cs typeface="Arial"/>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C82D-0EA9-7594-4F32-887C97F5693D}"/>
              </a:ext>
            </a:extLst>
          </p:cNvPr>
          <p:cNvSpPr>
            <a:spLocks noGrp="1"/>
          </p:cNvSpPr>
          <p:nvPr>
            <p:ph type="title"/>
          </p:nvPr>
        </p:nvSpPr>
        <p:spPr/>
        <p:txBody>
          <a:bodyPr/>
          <a:lstStyle/>
          <a:p>
            <a:r>
              <a:rPr lang="en-US"/>
              <a:t>  Objectives </a:t>
            </a:r>
          </a:p>
        </p:txBody>
      </p:sp>
      <p:sp>
        <p:nvSpPr>
          <p:cNvPr id="3" name="Text Placeholder 2">
            <a:extLst>
              <a:ext uri="{FF2B5EF4-FFF2-40B4-BE49-F238E27FC236}">
                <a16:creationId xmlns:a16="http://schemas.microsoft.com/office/drawing/2014/main" id="{AC3F05AA-BE91-F131-0C22-25CD707F9DB4}"/>
              </a:ext>
            </a:extLst>
          </p:cNvPr>
          <p:cNvSpPr>
            <a:spLocks noGrp="1"/>
          </p:cNvSpPr>
          <p:nvPr>
            <p:ph type="body" idx="1"/>
          </p:nvPr>
        </p:nvSpPr>
        <p:spPr>
          <a:xfrm>
            <a:off x="812800" y="767221"/>
            <a:ext cx="10668000" cy="4953000"/>
          </a:xfrm>
        </p:spPr>
        <p:txBody>
          <a:bodyPr spcFirstLastPara="1" wrap="square" lIns="91425" tIns="45700" rIns="91425" bIns="45700" anchor="t" anchorCtr="0">
            <a:noAutofit/>
          </a:bodyPr>
          <a:lstStyle/>
          <a:p>
            <a:pPr>
              <a:buFont typeface="Wingdings"/>
              <a:buChar char="v"/>
            </a:pPr>
            <a:endParaRPr lang="en-US" sz="2000"/>
          </a:p>
          <a:p>
            <a:pPr>
              <a:lnSpc>
                <a:spcPct val="150000"/>
              </a:lnSpc>
              <a:buFont typeface="Wingdings"/>
              <a:buChar char="v"/>
            </a:pPr>
            <a:r>
              <a:rPr lang="en-US" sz="1800" dirty="0">
                <a:latin typeface="Arial"/>
                <a:cs typeface="Arial"/>
              </a:rPr>
              <a:t>Develop a deep learning system using transfer learning to automatically identify Indian cattle and buffalo breeds from images.</a:t>
            </a:r>
          </a:p>
          <a:p>
            <a:pPr>
              <a:lnSpc>
                <a:spcPct val="150000"/>
              </a:lnSpc>
              <a:buFont typeface="Wingdings"/>
              <a:buChar char="v"/>
            </a:pPr>
            <a:r>
              <a:rPr lang="en-US" sz="1800" dirty="0">
                <a:latin typeface="Arial"/>
                <a:cs typeface="Arial"/>
              </a:rPr>
              <a:t>Implement and compare Six pre‑trained CNN architectures—MobileNetV2, MobileNetV3, DenseNet121, EfficientNetV2S, and EfficientNetB3, </a:t>
            </a:r>
            <a:r>
              <a:rPr lang="en-US" sz="1800" dirty="0" err="1">
                <a:latin typeface="Arial"/>
                <a:cs typeface="Arial"/>
              </a:rPr>
              <a:t>ConvNext</a:t>
            </a:r>
            <a:r>
              <a:rPr lang="en-US" sz="1800" dirty="0">
                <a:latin typeface="Arial"/>
                <a:cs typeface="Arial"/>
              </a:rPr>
              <a:t> —to determine the most effective model for breed classification.</a:t>
            </a:r>
            <a:endParaRPr lang="en-US" sz="1800" dirty="0"/>
          </a:p>
          <a:p>
            <a:pPr>
              <a:lnSpc>
                <a:spcPct val="150000"/>
              </a:lnSpc>
              <a:buFont typeface="Wingdings"/>
              <a:buChar char="v"/>
            </a:pPr>
            <a:r>
              <a:rPr lang="en-US" sz="1800">
                <a:latin typeface="Arial"/>
                <a:cs typeface="Arial"/>
              </a:rPr>
              <a:t>Preprocess and augment a dataset of  images across  breeds to enhance model generalization and performance.</a:t>
            </a:r>
            <a:endParaRPr lang="en-US" sz="1800"/>
          </a:p>
          <a:p>
            <a:pPr>
              <a:lnSpc>
                <a:spcPct val="150000"/>
              </a:lnSpc>
              <a:buFont typeface="Wingdings"/>
              <a:buChar char="v"/>
            </a:pPr>
            <a:r>
              <a:rPr lang="en-US" sz="1800" dirty="0">
                <a:latin typeface="Arial"/>
                <a:cs typeface="Arial"/>
              </a:rPr>
              <a:t>Optimize the models using TensorFlow Lite with quantization to enable efficient, real‑time deployment on web and mobile platforms.</a:t>
            </a:r>
            <a:endParaRPr lang="en-US" sz="1800" dirty="0"/>
          </a:p>
          <a:p>
            <a:pPr>
              <a:lnSpc>
                <a:spcPct val="150000"/>
              </a:lnSpc>
              <a:buFont typeface="Wingdings"/>
              <a:buChar char="v"/>
            </a:pPr>
            <a:r>
              <a:rPr lang="en-US" sz="1800" dirty="0">
                <a:latin typeface="Arial"/>
                <a:cs typeface="Arial"/>
              </a:rPr>
              <a:t>Build a user‑friendly web application that allows users to upload an image and receive breed predictions with confidence scores, aiding farmers and conservationists in breed identification.</a:t>
            </a:r>
            <a:br>
              <a:rPr lang="en-US" sz="1800" dirty="0"/>
            </a:br>
            <a:endParaRPr lang="en-US" sz="1800"/>
          </a:p>
          <a:p>
            <a:pPr>
              <a:lnSpc>
                <a:spcPct val="150000"/>
              </a:lnSpc>
              <a:buFont typeface="Wingdings"/>
              <a:buChar char="v"/>
            </a:pPr>
            <a:endParaRPr lang="en-US" sz="1800">
              <a:solidFill>
                <a:srgbClr val="000000"/>
              </a:solidFill>
              <a:cs typeface="Arial"/>
            </a:endParaRPr>
          </a:p>
        </p:txBody>
      </p:sp>
    </p:spTree>
    <p:extLst>
      <p:ext uri="{BB962C8B-B14F-4D97-AF65-F5344CB8AC3E}">
        <p14:creationId xmlns:p14="http://schemas.microsoft.com/office/powerpoint/2010/main" val="271051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81ADA-2F10-713C-B510-536F8FC13E3B}"/>
              </a:ext>
            </a:extLst>
          </p:cNvPr>
          <p:cNvSpPr>
            <a:spLocks noGrp="1"/>
          </p:cNvSpPr>
          <p:nvPr>
            <p:ph type="title"/>
          </p:nvPr>
        </p:nvSpPr>
        <p:spPr/>
        <p:txBody>
          <a:bodyPr/>
          <a:lstStyle/>
          <a:p>
            <a:r>
              <a:rPr lang="en-US"/>
              <a:t>Algorithms  used </a:t>
            </a:r>
          </a:p>
        </p:txBody>
      </p:sp>
      <p:sp>
        <p:nvSpPr>
          <p:cNvPr id="3" name="Text Placeholder 2">
            <a:extLst>
              <a:ext uri="{FF2B5EF4-FFF2-40B4-BE49-F238E27FC236}">
                <a16:creationId xmlns:a16="http://schemas.microsoft.com/office/drawing/2014/main" id="{9EA0C0AE-8BD7-6508-7160-841D5F0A001D}"/>
              </a:ext>
            </a:extLst>
          </p:cNvPr>
          <p:cNvSpPr>
            <a:spLocks noGrp="1"/>
          </p:cNvSpPr>
          <p:nvPr>
            <p:ph type="body" idx="1"/>
          </p:nvPr>
        </p:nvSpPr>
        <p:spPr>
          <a:xfrm>
            <a:off x="635348" y="955111"/>
            <a:ext cx="10668000" cy="4953000"/>
          </a:xfrm>
        </p:spPr>
        <p:txBody>
          <a:bodyPr spcFirstLastPara="1" wrap="square" lIns="91425" tIns="45700" rIns="91425" bIns="45700" anchor="t" anchorCtr="0">
            <a:noAutofit/>
          </a:bodyPr>
          <a:lstStyle/>
          <a:p>
            <a:pPr marL="76200" indent="0">
              <a:buNone/>
            </a:pPr>
            <a:endParaRPr lang="en-US" sz="2000" dirty="0">
              <a:solidFill>
                <a:srgbClr val="000000"/>
              </a:solidFill>
            </a:endParaRPr>
          </a:p>
          <a:p>
            <a:pPr marL="76200" indent="0">
              <a:buNone/>
            </a:pPr>
            <a:r>
              <a:rPr lang="en-US" sz="2000">
                <a:solidFill>
                  <a:srgbClr val="000000"/>
                </a:solidFill>
              </a:rPr>
              <a:t>We employed five deep learning architectures based on Convolutional Neural Networks (CNNs):</a:t>
            </a:r>
            <a:endParaRPr lang="en-US">
              <a:solidFill>
                <a:srgbClr val="000000"/>
              </a:solidFill>
            </a:endParaRPr>
          </a:p>
          <a:p>
            <a:pPr marL="76200" indent="0">
              <a:buNone/>
            </a:pPr>
            <a:endParaRPr lang="en-US" sz="2000" dirty="0">
              <a:solidFill>
                <a:srgbClr val="000000"/>
              </a:solidFill>
            </a:endParaRPr>
          </a:p>
          <a:p>
            <a:pPr marL="533400" indent="-457200">
              <a:buAutoNum type="arabicPeriod"/>
            </a:pPr>
            <a:r>
              <a:rPr lang="en-US" sz="2000">
                <a:solidFill>
                  <a:srgbClr val="000000"/>
                </a:solidFill>
              </a:rPr>
              <a:t>MobileNetV2 – Lightweight model using inverted residuals and     linear   bottlenecks.</a:t>
            </a:r>
            <a:endParaRPr lang="en-US" sz="2000"/>
          </a:p>
          <a:p>
            <a:pPr marL="533400" indent="-457200">
              <a:lnSpc>
                <a:spcPct val="150000"/>
              </a:lnSpc>
              <a:buAutoNum type="arabicPeriod"/>
            </a:pPr>
            <a:r>
              <a:rPr lang="en-US" sz="2000">
                <a:solidFill>
                  <a:srgbClr val="000000"/>
                </a:solidFill>
              </a:rPr>
              <a:t>MobileNetV3 Large – Optimized version with H-Swish activation and squeeze‑and‑excitation blocks.</a:t>
            </a:r>
            <a:endParaRPr lang="en-US" sz="2000"/>
          </a:p>
          <a:p>
            <a:pPr marL="533400" indent="-457200">
              <a:lnSpc>
                <a:spcPct val="150000"/>
              </a:lnSpc>
              <a:buAutoNum type="arabicPeriod"/>
            </a:pPr>
            <a:r>
              <a:rPr lang="en-US" sz="2000">
                <a:solidFill>
                  <a:srgbClr val="000000"/>
                </a:solidFill>
              </a:rPr>
              <a:t>DenseNet121 – Densely connected convolutional network for feature reuse.</a:t>
            </a:r>
            <a:endParaRPr lang="en-US" sz="2000"/>
          </a:p>
          <a:p>
            <a:pPr marL="533400" indent="-457200">
              <a:lnSpc>
                <a:spcPct val="150000"/>
              </a:lnSpc>
              <a:buAutoNum type="arabicPeriod"/>
            </a:pPr>
            <a:r>
              <a:rPr lang="en-US" sz="2000">
                <a:solidFill>
                  <a:srgbClr val="000000"/>
                </a:solidFill>
              </a:rPr>
              <a:t>EfficientNetV2S – Efficient scaling model with improved training efficiency.</a:t>
            </a:r>
            <a:endParaRPr lang="en-US" sz="2000"/>
          </a:p>
          <a:p>
            <a:pPr marL="533400" indent="-457200">
              <a:lnSpc>
                <a:spcPct val="150000"/>
              </a:lnSpc>
              <a:buAutoNum type="arabicPeriod"/>
            </a:pPr>
            <a:r>
              <a:rPr lang="en-US" sz="2000" dirty="0">
                <a:solidFill>
                  <a:srgbClr val="000000"/>
                </a:solidFill>
              </a:rPr>
              <a:t>EfficientNetB3 - Balanced version of </a:t>
            </a:r>
            <a:r>
              <a:rPr lang="en-US" sz="2000" dirty="0" err="1">
                <a:solidFill>
                  <a:srgbClr val="000000"/>
                </a:solidFill>
              </a:rPr>
              <a:t>EfficientNet</a:t>
            </a:r>
            <a:r>
              <a:rPr lang="en-US" sz="2000" dirty="0">
                <a:solidFill>
                  <a:srgbClr val="000000"/>
                </a:solidFill>
              </a:rPr>
              <a:t> with compound scaling.</a:t>
            </a:r>
          </a:p>
          <a:p>
            <a:pPr marL="533400" indent="-457200">
              <a:lnSpc>
                <a:spcPct val="150000"/>
              </a:lnSpc>
              <a:buAutoNum type="arabicPeriod"/>
            </a:pPr>
            <a:r>
              <a:rPr lang="en-US" sz="2000" dirty="0" err="1">
                <a:solidFill>
                  <a:srgbClr val="000000"/>
                </a:solidFill>
              </a:rPr>
              <a:t>ConvNe</a:t>
            </a:r>
            <a:r>
              <a:rPr lang="en-US" sz="2000" dirty="0">
                <a:solidFill>
                  <a:srgbClr val="000000"/>
                </a:solidFill>
              </a:rPr>
              <a:t>xt – Modernized CNN with inverted , improve accuracy. </a:t>
            </a:r>
            <a:br>
              <a:rPr lang="en-US" sz="2000" dirty="0">
                <a:solidFill>
                  <a:srgbClr val="000000"/>
                </a:solidFill>
              </a:rPr>
            </a:br>
            <a:endParaRPr lang="en-US" sz="2000" dirty="0">
              <a:solidFill>
                <a:srgbClr val="000000"/>
              </a:solidFill>
            </a:endParaRPr>
          </a:p>
          <a:p>
            <a:pPr>
              <a:buAutoNum type="arabicPeriod"/>
            </a:pPr>
            <a:endParaRPr lang="en-US"/>
          </a:p>
        </p:txBody>
      </p:sp>
    </p:spTree>
    <p:extLst>
      <p:ext uri="{BB962C8B-B14F-4D97-AF65-F5344CB8AC3E}">
        <p14:creationId xmlns:p14="http://schemas.microsoft.com/office/powerpoint/2010/main" val="2468073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9C38F18-15EE-0452-F216-84C584A509F1}"/>
              </a:ext>
            </a:extLst>
          </p:cNvPr>
          <p:cNvSpPr>
            <a:spLocks noGrp="1"/>
          </p:cNvSpPr>
          <p:nvPr>
            <p:ph type="body" idx="1"/>
          </p:nvPr>
        </p:nvSpPr>
        <p:spPr/>
        <p:txBody>
          <a:bodyPr>
            <a:normAutofit fontScale="92500"/>
          </a:bodyPr>
          <a:lstStyle/>
          <a:p>
            <a:endParaRPr lang="en-US"/>
          </a:p>
          <a:p>
            <a:pPr>
              <a:lnSpc>
                <a:spcPct val="150000"/>
              </a:lnSpc>
            </a:pPr>
            <a:r>
              <a:rPr lang="en-US">
                <a:solidFill>
                  <a:srgbClr val="000000"/>
                </a:solidFill>
              </a:rPr>
              <a:t>The project is based on Convolutional Neural Networks (CNNs) with transfer learning. Five pre‑trained CNN architectures—MobileNetV2, MobileNetV3 Large, DenseNet121, EfficientNetV2S, and EfficientNetB3, </a:t>
            </a:r>
            <a:r>
              <a:rPr lang="en-US" err="1">
                <a:solidFill>
                  <a:srgbClr val="000000"/>
                </a:solidFill>
              </a:rPr>
              <a:t>ConvNext</a:t>
            </a:r>
            <a:r>
              <a:rPr lang="en-US">
                <a:solidFill>
                  <a:srgbClr val="000000"/>
                </a:solidFill>
              </a:rPr>
              <a:t> —were used as feature extractors, fine‑tuned on the cattle breed dataset. The core algorithm is deep learning using CNNs for image classification.</a:t>
            </a:r>
          </a:p>
          <a:p>
            <a:pPr marL="76200" indent="0">
              <a:lnSpc>
                <a:spcPct val="150000"/>
              </a:lnSpc>
              <a:buNone/>
            </a:pPr>
            <a:br>
              <a:rPr lang="en-US"/>
            </a:br>
            <a:endParaRPr lang="en-US"/>
          </a:p>
        </p:txBody>
      </p:sp>
    </p:spTree>
    <p:extLst>
      <p:ext uri="{BB962C8B-B14F-4D97-AF65-F5344CB8AC3E}">
        <p14:creationId xmlns:p14="http://schemas.microsoft.com/office/powerpoint/2010/main" val="3755418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1B9EE-927F-55E1-8646-C94F9857EA38}"/>
              </a:ext>
            </a:extLst>
          </p:cNvPr>
          <p:cNvSpPr>
            <a:spLocks noGrp="1"/>
          </p:cNvSpPr>
          <p:nvPr>
            <p:ph type="title"/>
          </p:nvPr>
        </p:nvSpPr>
        <p:spPr/>
        <p:txBody>
          <a:bodyPr/>
          <a:lstStyle/>
          <a:p>
            <a:r>
              <a:rPr lang="en-US"/>
              <a:t>Architecture </a:t>
            </a:r>
          </a:p>
        </p:txBody>
      </p:sp>
      <p:sp>
        <p:nvSpPr>
          <p:cNvPr id="3" name="Text Placeholder 2">
            <a:extLst>
              <a:ext uri="{FF2B5EF4-FFF2-40B4-BE49-F238E27FC236}">
                <a16:creationId xmlns:a16="http://schemas.microsoft.com/office/drawing/2014/main" id="{02FFCE2B-E0F9-788A-CB8D-B19ACC9F4628}"/>
              </a:ext>
            </a:extLst>
          </p:cNvPr>
          <p:cNvSpPr>
            <a:spLocks noGrp="1"/>
          </p:cNvSpPr>
          <p:nvPr>
            <p:ph type="body" idx="1"/>
          </p:nvPr>
        </p:nvSpPr>
        <p:spPr/>
        <p:txBody>
          <a:bodyPr>
            <a:normAutofit/>
          </a:bodyPr>
          <a:lstStyle/>
          <a:p>
            <a:pPr>
              <a:lnSpc>
                <a:spcPct val="150000"/>
              </a:lnSpc>
            </a:pPr>
            <a:endParaRPr lang="en-US" sz="2000">
              <a:latin typeface="Arial"/>
            </a:endParaRPr>
          </a:p>
        </p:txBody>
      </p:sp>
      <p:pic>
        <p:nvPicPr>
          <p:cNvPr id="4" name="Picture 3" descr="A diagram of a system&#10;&#10;AI-generated content may be incorrect.">
            <a:extLst>
              <a:ext uri="{FF2B5EF4-FFF2-40B4-BE49-F238E27FC236}">
                <a16:creationId xmlns:a16="http://schemas.microsoft.com/office/drawing/2014/main" id="{8ECD84EB-74DD-9BA0-6EFB-3DFAEFA5C0FE}"/>
              </a:ext>
            </a:extLst>
          </p:cNvPr>
          <p:cNvPicPr>
            <a:picLocks noChangeAspect="1"/>
          </p:cNvPicPr>
          <p:nvPr/>
        </p:nvPicPr>
        <p:blipFill>
          <a:blip r:embed="rId2"/>
          <a:stretch>
            <a:fillRect/>
          </a:stretch>
        </p:blipFill>
        <p:spPr>
          <a:xfrm>
            <a:off x="628911" y="0"/>
            <a:ext cx="10287000" cy="6858000"/>
          </a:xfrm>
          <a:prstGeom prst="rect">
            <a:avLst/>
          </a:prstGeom>
        </p:spPr>
      </p:pic>
    </p:spTree>
    <p:extLst>
      <p:ext uri="{BB962C8B-B14F-4D97-AF65-F5344CB8AC3E}">
        <p14:creationId xmlns:p14="http://schemas.microsoft.com/office/powerpoint/2010/main" val="967724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7748F-B51F-700A-38DE-8F20B92ADB63}"/>
              </a:ext>
            </a:extLst>
          </p:cNvPr>
          <p:cNvSpPr>
            <a:spLocks noGrp="1"/>
          </p:cNvSpPr>
          <p:nvPr>
            <p:ph type="title"/>
          </p:nvPr>
        </p:nvSpPr>
        <p:spPr/>
        <p:txBody>
          <a:bodyPr/>
          <a:lstStyle/>
          <a:p>
            <a:r>
              <a:rPr lang="en-US"/>
              <a:t>6 Models used </a:t>
            </a:r>
          </a:p>
        </p:txBody>
      </p:sp>
      <p:sp>
        <p:nvSpPr>
          <p:cNvPr id="3" name="Text Placeholder 2">
            <a:extLst>
              <a:ext uri="{FF2B5EF4-FFF2-40B4-BE49-F238E27FC236}">
                <a16:creationId xmlns:a16="http://schemas.microsoft.com/office/drawing/2014/main" id="{260DE571-1C0A-4DE2-D3C4-82F59E190F1D}"/>
              </a:ext>
            </a:extLst>
          </p:cNvPr>
          <p:cNvSpPr>
            <a:spLocks noGrp="1"/>
          </p:cNvSpPr>
          <p:nvPr>
            <p:ph type="body" idx="1"/>
          </p:nvPr>
        </p:nvSpPr>
        <p:spPr>
          <a:xfrm>
            <a:off x="812800" y="1090809"/>
            <a:ext cx="10668000" cy="5495794"/>
          </a:xfrm>
        </p:spPr>
        <p:txBody>
          <a:bodyPr spcFirstLastPara="1" wrap="square" lIns="91425" tIns="45700" rIns="91425" bIns="45700" anchor="t" anchorCtr="0">
            <a:noAutofit/>
          </a:bodyPr>
          <a:lstStyle/>
          <a:p>
            <a:pPr marL="76200" indent="0">
              <a:buNone/>
            </a:pPr>
            <a:endParaRPr lang="en-US">
              <a:solidFill>
                <a:srgbClr val="000000"/>
              </a:solidFill>
            </a:endParaRPr>
          </a:p>
          <a:p>
            <a:pPr marL="533400" indent="-457200">
              <a:lnSpc>
                <a:spcPct val="160000"/>
              </a:lnSpc>
              <a:buAutoNum type="arabicPeriod"/>
            </a:pPr>
            <a:r>
              <a:rPr lang="en-US" sz="1800" b="1">
                <a:solidFill>
                  <a:srgbClr val="000000"/>
                </a:solidFill>
              </a:rPr>
              <a:t>MobileNetV2</a:t>
            </a:r>
            <a:r>
              <a:rPr lang="en-US" sz="1800">
                <a:solidFill>
                  <a:srgbClr val="000000"/>
                </a:solidFill>
              </a:rPr>
              <a:t> – Lightweight model using inverted residuals and linear bottlenecks.</a:t>
            </a:r>
          </a:p>
          <a:p>
            <a:pPr marL="533400" indent="-457200">
              <a:lnSpc>
                <a:spcPct val="160000"/>
              </a:lnSpc>
              <a:buAutoNum type="arabicPeriod"/>
            </a:pPr>
            <a:r>
              <a:rPr lang="en-US" sz="1800" b="1">
                <a:solidFill>
                  <a:srgbClr val="000000"/>
                </a:solidFill>
              </a:rPr>
              <a:t>MobileNetV3 Large</a:t>
            </a:r>
            <a:r>
              <a:rPr lang="en-US" sz="1800">
                <a:solidFill>
                  <a:srgbClr val="000000"/>
                </a:solidFill>
              </a:rPr>
              <a:t> – Optimized version with H-Swish activation and squeeze‑and‑excitation blocks.</a:t>
            </a:r>
            <a:endParaRPr lang="en-US" sz="1800"/>
          </a:p>
          <a:p>
            <a:pPr marL="533400" indent="-457200">
              <a:lnSpc>
                <a:spcPct val="160000"/>
              </a:lnSpc>
              <a:buAutoNum type="arabicPeriod"/>
            </a:pPr>
            <a:r>
              <a:rPr lang="en-US" sz="1800" b="1">
                <a:solidFill>
                  <a:srgbClr val="000000"/>
                </a:solidFill>
              </a:rPr>
              <a:t>DenseNet121 </a:t>
            </a:r>
            <a:r>
              <a:rPr lang="en-US" sz="1800">
                <a:solidFill>
                  <a:srgbClr val="000000"/>
                </a:solidFill>
              </a:rPr>
              <a:t>– Densely connected network for strong feature reuse and gradient flow.</a:t>
            </a:r>
            <a:endParaRPr lang="en-US" sz="1800"/>
          </a:p>
          <a:p>
            <a:pPr marL="533400" indent="-457200">
              <a:lnSpc>
                <a:spcPct val="160000"/>
              </a:lnSpc>
              <a:buAutoNum type="arabicPeriod"/>
            </a:pPr>
            <a:r>
              <a:rPr lang="en-US" sz="1800" b="1">
                <a:solidFill>
                  <a:srgbClr val="000000"/>
                </a:solidFill>
              </a:rPr>
              <a:t>EfficientNetV2S –</a:t>
            </a:r>
            <a:r>
              <a:rPr lang="en-US" sz="1800">
                <a:solidFill>
                  <a:srgbClr val="000000"/>
                </a:solidFill>
              </a:rPr>
              <a:t> Efficient scaling with improved training efficiency and architecture.</a:t>
            </a:r>
            <a:endParaRPr lang="en-US" sz="1800"/>
          </a:p>
          <a:p>
            <a:pPr marL="533400" indent="-457200">
              <a:lnSpc>
                <a:spcPct val="160000"/>
              </a:lnSpc>
              <a:buAutoNum type="arabicPeriod"/>
            </a:pPr>
            <a:r>
              <a:rPr lang="en-US" sz="1800" b="1">
                <a:solidFill>
                  <a:srgbClr val="000000"/>
                </a:solidFill>
              </a:rPr>
              <a:t>EfficientNetB3</a:t>
            </a:r>
            <a:r>
              <a:rPr lang="en-US" sz="1800">
                <a:solidFill>
                  <a:srgbClr val="000000"/>
                </a:solidFill>
              </a:rPr>
              <a:t> – Balanced </a:t>
            </a:r>
            <a:r>
              <a:rPr lang="en-US" sz="1800" err="1">
                <a:solidFill>
                  <a:srgbClr val="000000"/>
                </a:solidFill>
              </a:rPr>
              <a:t>EfficientNet</a:t>
            </a:r>
            <a:r>
              <a:rPr lang="en-US" sz="1800">
                <a:solidFill>
                  <a:srgbClr val="000000"/>
                </a:solidFill>
              </a:rPr>
              <a:t> variant with compound scaling for higher accuracy.</a:t>
            </a:r>
            <a:endParaRPr lang="en-US">
              <a:solidFill>
                <a:srgbClr val="000000"/>
              </a:solidFill>
            </a:endParaRPr>
          </a:p>
          <a:p>
            <a:pPr marL="533400" indent="-457200">
              <a:lnSpc>
                <a:spcPct val="160000"/>
              </a:lnSpc>
              <a:buAutoNum type="arabicPeriod"/>
            </a:pPr>
            <a:r>
              <a:rPr lang="en-US" sz="1800" b="1" err="1"/>
              <a:t>ConvNext</a:t>
            </a:r>
            <a:r>
              <a:rPr lang="en-US" sz="1800" b="1"/>
              <a:t> :  </a:t>
            </a:r>
            <a:r>
              <a:rPr lang="en-US" sz="1800"/>
              <a:t>To Built Convnext Model to improve High accuracy.</a:t>
            </a:r>
            <a:br>
              <a:rPr lang="en-US" sz="1800"/>
            </a:br>
            <a:endParaRPr lang="en-US"/>
          </a:p>
        </p:txBody>
      </p:sp>
    </p:spTree>
    <p:extLst>
      <p:ext uri="{BB962C8B-B14F-4D97-AF65-F5344CB8AC3E}">
        <p14:creationId xmlns:p14="http://schemas.microsoft.com/office/powerpoint/2010/main" val="4068786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B2B0-57C9-181F-C41C-916566E66A12}"/>
              </a:ext>
            </a:extLst>
          </p:cNvPr>
          <p:cNvSpPr>
            <a:spLocks noGrp="1"/>
          </p:cNvSpPr>
          <p:nvPr>
            <p:ph type="title"/>
          </p:nvPr>
        </p:nvSpPr>
        <p:spPr/>
        <p:txBody>
          <a:bodyPr/>
          <a:lstStyle/>
          <a:p>
            <a:br>
              <a:rPr lang="en-US"/>
            </a:br>
            <a:r>
              <a:rPr lang="en-US"/>
              <a:t> 6 Model Accuracy Results</a:t>
            </a:r>
            <a:br>
              <a:rPr lang="en-US"/>
            </a:br>
            <a:endParaRPr lang="en-US"/>
          </a:p>
        </p:txBody>
      </p:sp>
      <p:sp>
        <p:nvSpPr>
          <p:cNvPr id="3" name="Text Placeholder 2">
            <a:extLst>
              <a:ext uri="{FF2B5EF4-FFF2-40B4-BE49-F238E27FC236}">
                <a16:creationId xmlns:a16="http://schemas.microsoft.com/office/drawing/2014/main" id="{0D79A543-8C80-1BDD-9E00-6E4C9AA3CCA5}"/>
              </a:ext>
            </a:extLst>
          </p:cNvPr>
          <p:cNvSpPr>
            <a:spLocks noGrp="1"/>
          </p:cNvSpPr>
          <p:nvPr>
            <p:ph type="body" idx="1"/>
          </p:nvPr>
        </p:nvSpPr>
        <p:spPr/>
        <p:txBody>
          <a:bodyPr/>
          <a:lstStyle/>
          <a:p>
            <a:endParaRPr lang="en-US"/>
          </a:p>
          <a:p>
            <a:endParaRPr lang="en-US"/>
          </a:p>
          <a:p>
            <a:endParaRPr lang="en-US"/>
          </a:p>
          <a:p>
            <a:endParaRPr lang="en-US"/>
          </a:p>
        </p:txBody>
      </p:sp>
      <p:graphicFrame>
        <p:nvGraphicFramePr>
          <p:cNvPr id="5" name="Table 4">
            <a:extLst>
              <a:ext uri="{FF2B5EF4-FFF2-40B4-BE49-F238E27FC236}">
                <a16:creationId xmlns:a16="http://schemas.microsoft.com/office/drawing/2014/main" id="{C9C9D7F1-01E4-AEB9-0718-35AF3022B583}"/>
              </a:ext>
            </a:extLst>
          </p:cNvPr>
          <p:cNvGraphicFramePr>
            <a:graphicFrameLocks noGrp="1"/>
          </p:cNvGraphicFramePr>
          <p:nvPr>
            <p:extLst>
              <p:ext uri="{D42A27DB-BD31-4B8C-83A1-F6EECF244321}">
                <p14:modId xmlns:p14="http://schemas.microsoft.com/office/powerpoint/2010/main" val="2282503008"/>
              </p:ext>
            </p:extLst>
          </p:nvPr>
        </p:nvGraphicFramePr>
        <p:xfrm>
          <a:off x="2580423" y="1163262"/>
          <a:ext cx="6542988" cy="5123713"/>
        </p:xfrm>
        <a:graphic>
          <a:graphicData uri="http://schemas.openxmlformats.org/drawingml/2006/table">
            <a:tbl>
              <a:tblPr firstRow="1" bandRow="1"/>
              <a:tblGrid>
                <a:gridCol w="3361764">
                  <a:extLst>
                    <a:ext uri="{9D8B030D-6E8A-4147-A177-3AD203B41FA5}">
                      <a16:colId xmlns:a16="http://schemas.microsoft.com/office/drawing/2014/main" val="3219712891"/>
                    </a:ext>
                  </a:extLst>
                </a:gridCol>
                <a:gridCol w="3181224">
                  <a:extLst>
                    <a:ext uri="{9D8B030D-6E8A-4147-A177-3AD203B41FA5}">
                      <a16:colId xmlns:a16="http://schemas.microsoft.com/office/drawing/2014/main" val="1255479782"/>
                    </a:ext>
                  </a:extLst>
                </a:gridCol>
              </a:tblGrid>
              <a:tr h="658345">
                <a:tc>
                  <a:txBody>
                    <a:bodyPr/>
                    <a:lstStyle/>
                    <a:p>
                      <a:r>
                        <a:rPr lang="en-US" sz="2800" dirty="0"/>
                        <a:t>         </a:t>
                      </a:r>
                      <a:r>
                        <a:rPr lang="en-US" sz="2800" b="1">
                          <a:latin typeface="Arial"/>
                          <a:ea typeface="Calibri"/>
                          <a:cs typeface="Arial"/>
                        </a:rPr>
                        <a:t>Model</a:t>
                      </a:r>
                    </a:p>
                  </a:txBody>
                  <a:tcPr/>
                </a:tc>
                <a:tc>
                  <a:txBody>
                    <a:bodyPr/>
                    <a:lstStyle/>
                    <a:p>
                      <a:r>
                        <a:rPr lang="en-US" sz="2800" dirty="0"/>
                        <a:t>     </a:t>
                      </a:r>
                      <a:r>
                        <a:rPr lang="en-US" sz="2800" dirty="0">
                          <a:latin typeface="Arial"/>
                          <a:cs typeface="Arial"/>
                        </a:rPr>
                        <a:t> </a:t>
                      </a:r>
                      <a:r>
                        <a:rPr lang="en-US" sz="2800" b="1">
                          <a:latin typeface="Arial"/>
                          <a:cs typeface="Arial"/>
                        </a:rPr>
                        <a:t>Accuracy</a:t>
                      </a:r>
                    </a:p>
                  </a:txBody>
                  <a:tcPr/>
                </a:tc>
                <a:extLst>
                  <a:ext uri="{0D108BD9-81ED-4DB2-BD59-A6C34878D82A}">
                    <a16:rowId xmlns:a16="http://schemas.microsoft.com/office/drawing/2014/main" val="4243519237"/>
                  </a:ext>
                </a:extLst>
              </a:tr>
              <a:tr h="689622">
                <a:tc>
                  <a:txBody>
                    <a:bodyPr/>
                    <a:lstStyle/>
                    <a:p>
                      <a:r>
                        <a:rPr lang="en-US" dirty="0"/>
                        <a:t>       </a:t>
                      </a:r>
                    </a:p>
                    <a:p>
                      <a:pPr lvl="0">
                        <a:buNone/>
                      </a:pPr>
                      <a:r>
                        <a:rPr lang="en-US" sz="2400"/>
                        <a:t>   MobileNetV3 Large</a:t>
                      </a:r>
                    </a:p>
                  </a:txBody>
                  <a:tcPr/>
                </a:tc>
                <a:tc>
                  <a:txBody>
                    <a:bodyPr/>
                    <a:lstStyle/>
                    <a:p>
                      <a:r>
                        <a:rPr lang="en-US" dirty="0"/>
                        <a:t>           </a:t>
                      </a:r>
                    </a:p>
                    <a:p>
                      <a:pPr lvl="0">
                        <a:buNone/>
                      </a:pPr>
                      <a:r>
                        <a:rPr lang="en-US" dirty="0"/>
                        <a:t>                </a:t>
                      </a:r>
                      <a:r>
                        <a:rPr lang="en-US" sz="2400"/>
                        <a:t>  92.74%</a:t>
                      </a:r>
                    </a:p>
                  </a:txBody>
                  <a:tcPr/>
                </a:tc>
                <a:extLst>
                  <a:ext uri="{0D108BD9-81ED-4DB2-BD59-A6C34878D82A}">
                    <a16:rowId xmlns:a16="http://schemas.microsoft.com/office/drawing/2014/main" val="3064605435"/>
                  </a:ext>
                </a:extLst>
              </a:tr>
              <a:tr h="689622">
                <a:tc>
                  <a:txBody>
                    <a:bodyPr/>
                    <a:lstStyle/>
                    <a:p>
                      <a:pPr lvl="0">
                        <a:buNone/>
                      </a:pPr>
                      <a:r>
                        <a:rPr lang="en-US" sz="2400" b="0" i="0" u="none" strike="noStrike" baseline="0" noProof="0" dirty="0">
                          <a:solidFill>
                            <a:srgbClr val="000000"/>
                          </a:solidFill>
                          <a:latin typeface="Arial"/>
                          <a:cs typeface="Arial"/>
                        </a:rPr>
                        <a:t>     </a:t>
                      </a:r>
                    </a:p>
                    <a:p>
                      <a:pPr lvl="0">
                        <a:buNone/>
                      </a:pPr>
                      <a:r>
                        <a:rPr lang="en-US" sz="2400" b="0" i="0" u="none" strike="noStrike" baseline="0" noProof="0">
                          <a:solidFill>
                            <a:srgbClr val="000000"/>
                          </a:solidFill>
                          <a:latin typeface="Arial"/>
                          <a:cs typeface="Arial"/>
                        </a:rPr>
                        <a:t>     MobileNetV2</a:t>
                      </a:r>
                    </a:p>
                  </a:txBody>
                  <a:tcPr/>
                </a:tc>
                <a:tc>
                  <a:txBody>
                    <a:bodyPr/>
                    <a:lstStyle/>
                    <a:p>
                      <a:endParaRPr lang="en-US"/>
                    </a:p>
                    <a:p>
                      <a:pPr lvl="0">
                        <a:buNone/>
                      </a:pPr>
                      <a:r>
                        <a:rPr lang="en-US" dirty="0"/>
                        <a:t>                 </a:t>
                      </a:r>
                      <a:r>
                        <a:rPr lang="en-US" sz="2400"/>
                        <a:t> 89.25%</a:t>
                      </a:r>
                    </a:p>
                  </a:txBody>
                  <a:tcPr/>
                </a:tc>
                <a:extLst>
                  <a:ext uri="{0D108BD9-81ED-4DB2-BD59-A6C34878D82A}">
                    <a16:rowId xmlns:a16="http://schemas.microsoft.com/office/drawing/2014/main" val="1404784267"/>
                  </a:ext>
                </a:extLst>
              </a:tr>
              <a:tr h="689622">
                <a:tc>
                  <a:txBody>
                    <a:bodyPr/>
                    <a:lstStyle/>
                    <a:p>
                      <a:r>
                        <a:rPr lang="en-US" dirty="0"/>
                        <a:t>         </a:t>
                      </a:r>
                    </a:p>
                    <a:p>
                      <a:pPr lvl="0">
                        <a:buNone/>
                      </a:pPr>
                      <a:r>
                        <a:rPr lang="en-US" dirty="0"/>
                        <a:t>      </a:t>
                      </a:r>
                      <a:r>
                        <a:rPr lang="en-US" sz="2400"/>
                        <a:t> DenseNet121</a:t>
                      </a:r>
                    </a:p>
                  </a:txBody>
                  <a:tcPr/>
                </a:tc>
                <a:tc>
                  <a:txBody>
                    <a:bodyPr/>
                    <a:lstStyle/>
                    <a:p>
                      <a:r>
                        <a:rPr lang="en-US" dirty="0"/>
                        <a:t>     </a:t>
                      </a:r>
                    </a:p>
                    <a:p>
                      <a:pPr lvl="0">
                        <a:buNone/>
                      </a:pPr>
                      <a:r>
                        <a:rPr lang="en-US" dirty="0"/>
                        <a:t>                </a:t>
                      </a:r>
                      <a:r>
                        <a:rPr lang="en-US" sz="2400"/>
                        <a:t> 85.22%</a:t>
                      </a:r>
                    </a:p>
                  </a:txBody>
                  <a:tcPr/>
                </a:tc>
                <a:extLst>
                  <a:ext uri="{0D108BD9-81ED-4DB2-BD59-A6C34878D82A}">
                    <a16:rowId xmlns:a16="http://schemas.microsoft.com/office/drawing/2014/main" val="296497088"/>
                  </a:ext>
                </a:extLst>
              </a:tr>
              <a:tr h="689621">
                <a:tc>
                  <a:txBody>
                    <a:bodyPr/>
                    <a:lstStyle/>
                    <a:p>
                      <a:pPr lvl="0">
                        <a:buNone/>
                      </a:pPr>
                      <a:r>
                        <a:rPr lang="en-US" sz="2400" dirty="0"/>
                        <a:t>      </a:t>
                      </a:r>
                    </a:p>
                    <a:p>
                      <a:pPr lvl="0">
                        <a:buNone/>
                      </a:pPr>
                      <a:r>
                        <a:rPr lang="en-US" sz="2400" dirty="0"/>
                        <a:t>     </a:t>
                      </a:r>
                      <a:r>
                        <a:rPr lang="en-US" sz="2800" dirty="0" err="1"/>
                        <a:t>ConvNext</a:t>
                      </a:r>
                      <a:endParaRPr lang="en-US" sz="2800" dirty="0"/>
                    </a:p>
                  </a:txBody>
                  <a:tcPr/>
                </a:tc>
                <a:tc>
                  <a:txBody>
                    <a:bodyPr/>
                    <a:lstStyle/>
                    <a:p>
                      <a:pPr lvl="0">
                        <a:buNone/>
                      </a:pPr>
                      <a:r>
                        <a:rPr lang="en-US" sz="2400" dirty="0"/>
                        <a:t>           </a:t>
                      </a:r>
                    </a:p>
                    <a:p>
                      <a:pPr lvl="0">
                        <a:buNone/>
                      </a:pPr>
                      <a:r>
                        <a:rPr lang="en-US" sz="2400"/>
                        <a:t>           90.35%</a:t>
                      </a:r>
                    </a:p>
                  </a:txBody>
                  <a:tcPr/>
                </a:tc>
                <a:extLst>
                  <a:ext uri="{0D108BD9-81ED-4DB2-BD59-A6C34878D82A}">
                    <a16:rowId xmlns:a16="http://schemas.microsoft.com/office/drawing/2014/main" val="1264240076"/>
                  </a:ext>
                </a:extLst>
              </a:tr>
              <a:tr h="689622">
                <a:tc>
                  <a:txBody>
                    <a:bodyPr/>
                    <a:lstStyle/>
                    <a:p>
                      <a:r>
                        <a:rPr lang="en-US" dirty="0"/>
                        <a:t> </a:t>
                      </a:r>
                    </a:p>
                    <a:p>
                      <a:pPr lvl="0">
                        <a:buNone/>
                      </a:pPr>
                      <a:r>
                        <a:rPr lang="en-US" dirty="0"/>
                        <a:t>        </a:t>
                      </a:r>
                      <a:r>
                        <a:rPr lang="en-US" sz="2400"/>
                        <a:t>EfficientNetV2S</a:t>
                      </a:r>
                    </a:p>
                  </a:txBody>
                  <a:tcPr/>
                </a:tc>
                <a:tc>
                  <a:txBody>
                    <a:bodyPr/>
                    <a:lstStyle/>
                    <a:p>
                      <a:r>
                        <a:rPr lang="en-US" dirty="0"/>
                        <a:t>               </a:t>
                      </a:r>
                    </a:p>
                    <a:p>
                      <a:pPr lvl="0">
                        <a:buNone/>
                      </a:pPr>
                      <a:r>
                        <a:rPr lang="en-US" dirty="0"/>
                        <a:t>                </a:t>
                      </a:r>
                      <a:r>
                        <a:rPr lang="en-US" sz="2400"/>
                        <a:t> 82.12%</a:t>
                      </a:r>
                    </a:p>
                  </a:txBody>
                  <a:tcPr/>
                </a:tc>
                <a:extLst>
                  <a:ext uri="{0D108BD9-81ED-4DB2-BD59-A6C34878D82A}">
                    <a16:rowId xmlns:a16="http://schemas.microsoft.com/office/drawing/2014/main" val="691482885"/>
                  </a:ext>
                </a:extLst>
              </a:tr>
              <a:tr h="689622">
                <a:tc>
                  <a:txBody>
                    <a:bodyPr/>
                    <a:lstStyle/>
                    <a:p>
                      <a:endParaRPr lang="en-US"/>
                    </a:p>
                    <a:p>
                      <a:pPr lvl="0">
                        <a:buNone/>
                      </a:pPr>
                      <a:r>
                        <a:rPr lang="en-US" dirty="0"/>
                        <a:t>          </a:t>
                      </a:r>
                      <a:r>
                        <a:rPr lang="en-US" sz="2400"/>
                        <a:t>EfficientNetB3</a:t>
                      </a:r>
                    </a:p>
                  </a:txBody>
                  <a:tcPr/>
                </a:tc>
                <a:tc>
                  <a:txBody>
                    <a:bodyPr/>
                    <a:lstStyle/>
                    <a:p>
                      <a:r>
                        <a:rPr lang="en-US" dirty="0"/>
                        <a:t>                  </a:t>
                      </a:r>
                    </a:p>
                    <a:p>
                      <a:pPr lvl="0">
                        <a:buNone/>
                      </a:pPr>
                      <a:r>
                        <a:rPr lang="en-US" dirty="0"/>
                        <a:t>                  </a:t>
                      </a:r>
                      <a:r>
                        <a:rPr lang="en-US" sz="2400"/>
                        <a:t>87.83%</a:t>
                      </a:r>
                    </a:p>
                  </a:txBody>
                  <a:tcPr/>
                </a:tc>
                <a:extLst>
                  <a:ext uri="{0D108BD9-81ED-4DB2-BD59-A6C34878D82A}">
                    <a16:rowId xmlns:a16="http://schemas.microsoft.com/office/drawing/2014/main" val="1395945194"/>
                  </a:ext>
                </a:extLst>
              </a:tr>
            </a:tbl>
          </a:graphicData>
        </a:graphic>
      </p:graphicFrame>
    </p:spTree>
    <p:extLst>
      <p:ext uri="{BB962C8B-B14F-4D97-AF65-F5344CB8AC3E}">
        <p14:creationId xmlns:p14="http://schemas.microsoft.com/office/powerpoint/2010/main" val="3683755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38C3-BDC1-533C-CEB9-5A3801C9E539}"/>
              </a:ext>
            </a:extLst>
          </p:cNvPr>
          <p:cNvSpPr>
            <a:spLocks noGrp="1"/>
          </p:cNvSpPr>
          <p:nvPr>
            <p:ph type="title"/>
          </p:nvPr>
        </p:nvSpPr>
        <p:spPr/>
        <p:txBody>
          <a:bodyPr/>
          <a:lstStyle/>
          <a:p>
            <a:r>
              <a:rPr lang="en-US"/>
              <a:t>Project Implementation </a:t>
            </a:r>
          </a:p>
        </p:txBody>
      </p:sp>
      <p:sp>
        <p:nvSpPr>
          <p:cNvPr id="3" name="Text Placeholder 2">
            <a:extLst>
              <a:ext uri="{FF2B5EF4-FFF2-40B4-BE49-F238E27FC236}">
                <a16:creationId xmlns:a16="http://schemas.microsoft.com/office/drawing/2014/main" id="{856ABDA6-49FE-2E3F-D2EA-F42400207E9D}"/>
              </a:ext>
            </a:extLst>
          </p:cNvPr>
          <p:cNvSpPr>
            <a:spLocks noGrp="1"/>
          </p:cNvSpPr>
          <p:nvPr>
            <p:ph type="body" idx="1"/>
          </p:nvPr>
        </p:nvSpPr>
        <p:spPr/>
        <p:txBody>
          <a:bodyPr spcFirstLastPara="1" wrap="square" lIns="91425" tIns="45700" rIns="91425" bIns="45700" anchor="t" anchorCtr="0">
            <a:noAutofit/>
          </a:bodyPr>
          <a:lstStyle/>
          <a:p>
            <a:pPr marL="76200" indent="0">
              <a:buNone/>
            </a:pPr>
            <a:endParaRPr lang="en-US"/>
          </a:p>
          <a:p>
            <a:pPr>
              <a:buFont typeface="Wingdings"/>
              <a:buChar char="v"/>
            </a:pPr>
            <a:r>
              <a:rPr lang="en-US" sz="1600" b="1" dirty="0"/>
              <a:t>Environment Setup</a:t>
            </a:r>
            <a:r>
              <a:rPr lang="en-US" sz="1600" dirty="0"/>
              <a:t> – Python 3.12, TensorFlow, </a:t>
            </a:r>
            <a:r>
              <a:rPr lang="en-US" sz="1600" dirty="0" err="1"/>
              <a:t>Keras</a:t>
            </a:r>
            <a:r>
              <a:rPr lang="en-US" sz="1600" dirty="0"/>
              <a:t>, Flask, and required libraries installed.</a:t>
            </a:r>
          </a:p>
          <a:p>
            <a:pPr>
              <a:lnSpc>
                <a:spcPct val="120000"/>
              </a:lnSpc>
              <a:buFont typeface="Wingdings"/>
              <a:buChar char="v"/>
            </a:pPr>
            <a:endParaRPr lang="en-US" sz="1600"/>
          </a:p>
          <a:p>
            <a:pPr>
              <a:lnSpc>
                <a:spcPct val="120000"/>
              </a:lnSpc>
              <a:buFont typeface="Wingdings"/>
              <a:buChar char="v"/>
            </a:pPr>
            <a:r>
              <a:rPr lang="en-US" sz="1600" b="1" dirty="0"/>
              <a:t>Data Collection –</a:t>
            </a:r>
            <a:r>
              <a:rPr lang="en-US" sz="1600" dirty="0"/>
              <a:t> Two datasets (Indian Bovine Breed + Indian Cattle Breed Image) merged into one folder </a:t>
            </a:r>
            <a:r>
              <a:rPr lang="en-US" sz="1600"/>
              <a:t>with images across  breeds.</a:t>
            </a:r>
          </a:p>
          <a:p>
            <a:pPr marL="76200" indent="0">
              <a:lnSpc>
                <a:spcPct val="120000"/>
              </a:lnSpc>
              <a:buNone/>
            </a:pPr>
            <a:endParaRPr lang="en-US" sz="1600" dirty="0"/>
          </a:p>
          <a:p>
            <a:pPr>
              <a:lnSpc>
                <a:spcPct val="120000"/>
              </a:lnSpc>
              <a:buFont typeface="Wingdings"/>
              <a:buChar char="v"/>
            </a:pPr>
            <a:r>
              <a:rPr lang="en-US" sz="1600" b="1"/>
              <a:t>Preprocessing –</a:t>
            </a:r>
            <a:r>
              <a:rPr lang="en-US" sz="1600"/>
              <a:t> Images resized to 160×160, normalized to [0,1], and split 80‑20 for training and validation.</a:t>
            </a:r>
          </a:p>
          <a:p>
            <a:pPr>
              <a:lnSpc>
                <a:spcPct val="120000"/>
              </a:lnSpc>
              <a:buFont typeface="Wingdings"/>
              <a:buChar char="v"/>
            </a:pPr>
            <a:endParaRPr lang="en-US" sz="1600"/>
          </a:p>
          <a:p>
            <a:pPr>
              <a:lnSpc>
                <a:spcPct val="120000"/>
              </a:lnSpc>
              <a:buFont typeface="Wingdings"/>
              <a:buChar char="v"/>
            </a:pPr>
            <a:r>
              <a:rPr lang="en-US" sz="1600" b="1"/>
              <a:t>Data Augmentation – </a:t>
            </a:r>
            <a:r>
              <a:rPr lang="en-US" sz="1600"/>
              <a:t>Rotation, zoom, horizontal flip, and shifts applied to training data.</a:t>
            </a:r>
          </a:p>
          <a:p>
            <a:pPr>
              <a:lnSpc>
                <a:spcPct val="120000"/>
              </a:lnSpc>
              <a:buFont typeface="Wingdings"/>
              <a:buChar char="v"/>
            </a:pPr>
            <a:endParaRPr lang="en-US" sz="1600"/>
          </a:p>
          <a:p>
            <a:pPr>
              <a:lnSpc>
                <a:spcPct val="120000"/>
              </a:lnSpc>
              <a:buFont typeface="Wingdings"/>
              <a:buChar char="v"/>
            </a:pPr>
            <a:r>
              <a:rPr lang="en-US" sz="1600" b="1" dirty="0"/>
              <a:t>Model Selection</a:t>
            </a:r>
            <a:r>
              <a:rPr lang="en-US" sz="1600" dirty="0"/>
              <a:t> – Six pre‑trained CNNs (MobileNetV2, MobileNetV3, DenseNet121, EfficientNetV2S, EfficientNetB3, </a:t>
            </a:r>
            <a:r>
              <a:rPr lang="en-US" sz="1600" dirty="0" err="1"/>
              <a:t>Convenext</a:t>
            </a:r>
            <a:r>
              <a:rPr lang="en-US" sz="1600" dirty="0"/>
              <a:t>) loaded with ImageNet weights.</a:t>
            </a:r>
            <a:br>
              <a:rPr lang="en-US" sz="1600" dirty="0"/>
            </a:br>
            <a:endParaRPr lang="en-US" sz="1600"/>
          </a:p>
        </p:txBody>
      </p:sp>
    </p:spTree>
    <p:extLst>
      <p:ext uri="{BB962C8B-B14F-4D97-AF65-F5344CB8AC3E}">
        <p14:creationId xmlns:p14="http://schemas.microsoft.com/office/powerpoint/2010/main" val="1278837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AAE8C9E-713F-7C9F-DA08-368E5F576212}"/>
              </a:ext>
            </a:extLst>
          </p:cNvPr>
          <p:cNvSpPr>
            <a:spLocks noGrp="1"/>
          </p:cNvSpPr>
          <p:nvPr>
            <p:ph type="body" idx="1"/>
          </p:nvPr>
        </p:nvSpPr>
        <p:spPr>
          <a:xfrm>
            <a:off x="760608" y="955111"/>
            <a:ext cx="10668000" cy="4953000"/>
          </a:xfrm>
        </p:spPr>
        <p:txBody>
          <a:bodyPr spcFirstLastPara="1" wrap="square" lIns="91425" tIns="45700" rIns="91425" bIns="45700" anchor="t" anchorCtr="0">
            <a:noAutofit/>
          </a:bodyPr>
          <a:lstStyle/>
          <a:p>
            <a:pPr>
              <a:buFont typeface="Wingdings"/>
              <a:buChar char="v"/>
            </a:pPr>
            <a:r>
              <a:rPr lang="en-US" sz="1800" b="1"/>
              <a:t>Transfer Learning</a:t>
            </a:r>
            <a:r>
              <a:rPr lang="en-US" sz="1800"/>
              <a:t> – Base layers frozen; custom classification head  added.</a:t>
            </a:r>
            <a:endParaRPr lang="en-US"/>
          </a:p>
          <a:p>
            <a:pPr>
              <a:buFont typeface="Wingdings"/>
              <a:buChar char="v"/>
            </a:pPr>
            <a:endParaRPr lang="en-US" sz="1800"/>
          </a:p>
          <a:p>
            <a:pPr>
              <a:buFont typeface="Wingdings"/>
              <a:buChar char="v"/>
            </a:pPr>
            <a:r>
              <a:rPr lang="en-US" sz="1800" b="1"/>
              <a:t>Training </a:t>
            </a:r>
            <a:r>
              <a:rPr lang="en-US" sz="1800"/>
              <a:t>– Models compiled with Adam optimizer and categorical cross‑entropy, trained for up to 20 epochs with early stopping and learning rate reduction.</a:t>
            </a:r>
          </a:p>
          <a:p>
            <a:pPr>
              <a:buFont typeface="Wingdings"/>
              <a:buChar char="v"/>
            </a:pPr>
            <a:endParaRPr lang="en-US" sz="1800"/>
          </a:p>
          <a:p>
            <a:pPr>
              <a:buFont typeface="Wingdings"/>
              <a:buChar char="v"/>
            </a:pPr>
            <a:r>
              <a:rPr lang="en-US" sz="1800" b="1"/>
              <a:t>Evaluation – </a:t>
            </a:r>
            <a:r>
              <a:rPr lang="en-US" sz="1800"/>
              <a:t>Validation accuracy, precision, recall, F1‑score, and confusion matrices computed for each model.</a:t>
            </a:r>
          </a:p>
          <a:p>
            <a:pPr>
              <a:buFont typeface="Wingdings"/>
              <a:buChar char="v"/>
            </a:pPr>
            <a:endParaRPr lang="en-US" sz="1800"/>
          </a:p>
          <a:p>
            <a:pPr>
              <a:buFont typeface="Wingdings"/>
              <a:buChar char="v"/>
            </a:pPr>
            <a:r>
              <a:rPr lang="en-US" sz="1800" b="1"/>
              <a:t>Optimization </a:t>
            </a:r>
            <a:r>
              <a:rPr lang="en-US" sz="1800"/>
              <a:t>– Trained models converted to TensorFlow Lite with post‑training quantization for size reduction and faster inference.</a:t>
            </a:r>
          </a:p>
          <a:p>
            <a:pPr>
              <a:buFont typeface="Wingdings"/>
              <a:buChar char="v"/>
            </a:pPr>
            <a:endParaRPr lang="en-US" sz="1800"/>
          </a:p>
          <a:p>
            <a:pPr>
              <a:buFont typeface="Wingdings"/>
              <a:buChar char="v"/>
            </a:pPr>
            <a:r>
              <a:rPr lang="en-US" sz="1800" b="1"/>
              <a:t>Web Application </a:t>
            </a:r>
            <a:r>
              <a:rPr lang="en-US" sz="1800"/>
              <a:t>– Flask backend loads all five </a:t>
            </a:r>
            <a:r>
              <a:rPr lang="en-US" sz="1800" err="1"/>
              <a:t>TFLite</a:t>
            </a:r>
            <a:r>
              <a:rPr lang="en-US" sz="1800"/>
              <a:t> models; frontend allows image upload and displays breed predictions with confidence.</a:t>
            </a:r>
          </a:p>
          <a:p>
            <a:pPr>
              <a:buFont typeface="Wingdings"/>
              <a:buChar char="v"/>
            </a:pPr>
            <a:endParaRPr lang="en-US" sz="1800"/>
          </a:p>
          <a:p>
            <a:pPr>
              <a:buFont typeface="Wingdings"/>
              <a:buChar char="v"/>
            </a:pPr>
            <a:r>
              <a:rPr lang="en-US" sz="1800" b="1"/>
              <a:t>Testing </a:t>
            </a:r>
            <a:r>
              <a:rPr lang="en-US" sz="1800"/>
              <a:t>– Application tested locally; users upload images and receive predictions from all models in real time.</a:t>
            </a:r>
          </a:p>
          <a:p>
            <a:pPr>
              <a:buFont typeface="Wingdings"/>
              <a:buChar char="v"/>
            </a:pPr>
            <a:endParaRPr lang="en-US" sz="2000"/>
          </a:p>
        </p:txBody>
      </p:sp>
    </p:spTree>
    <p:extLst>
      <p:ext uri="{BB962C8B-B14F-4D97-AF65-F5344CB8AC3E}">
        <p14:creationId xmlns:p14="http://schemas.microsoft.com/office/powerpoint/2010/main" val="1813259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8F1A7-16D7-2066-9AC0-E5D7C90404CD}"/>
              </a:ext>
            </a:extLst>
          </p:cNvPr>
          <p:cNvSpPr>
            <a:spLocks noGrp="1"/>
          </p:cNvSpPr>
          <p:nvPr>
            <p:ph type="title"/>
          </p:nvPr>
        </p:nvSpPr>
        <p:spPr/>
        <p:txBody>
          <a:bodyPr/>
          <a:lstStyle/>
          <a:p>
            <a:r>
              <a:rPr lang="en-US" sz="3200"/>
              <a:t>Result :</a:t>
            </a:r>
          </a:p>
        </p:txBody>
      </p:sp>
      <p:sp>
        <p:nvSpPr>
          <p:cNvPr id="3" name="Text Placeholder 2">
            <a:extLst>
              <a:ext uri="{FF2B5EF4-FFF2-40B4-BE49-F238E27FC236}">
                <a16:creationId xmlns:a16="http://schemas.microsoft.com/office/drawing/2014/main" id="{59F77228-AB1B-FB72-9C14-2E6E164EC1F0}"/>
              </a:ext>
            </a:extLst>
          </p:cNvPr>
          <p:cNvSpPr>
            <a:spLocks noGrp="1"/>
          </p:cNvSpPr>
          <p:nvPr>
            <p:ph type="body" idx="1"/>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C3DA4DC5-04BC-32A1-691E-1AD85277009B}"/>
              </a:ext>
            </a:extLst>
          </p:cNvPr>
          <p:cNvPicPr>
            <a:picLocks noChangeAspect="1"/>
          </p:cNvPicPr>
          <p:nvPr/>
        </p:nvPicPr>
        <p:blipFill>
          <a:blip r:embed="rId2"/>
          <a:stretch>
            <a:fillRect/>
          </a:stretch>
        </p:blipFill>
        <p:spPr>
          <a:xfrm>
            <a:off x="1317166" y="1140359"/>
            <a:ext cx="9937316" cy="4888114"/>
          </a:xfrm>
          <a:prstGeom prst="rect">
            <a:avLst/>
          </a:prstGeom>
        </p:spPr>
      </p:pic>
    </p:spTree>
    <p:extLst>
      <p:ext uri="{BB962C8B-B14F-4D97-AF65-F5344CB8AC3E}">
        <p14:creationId xmlns:p14="http://schemas.microsoft.com/office/powerpoint/2010/main" val="19086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7708-B5EC-CC90-A0A9-334275F01AB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1705615-D7E3-F59A-AA27-FF2F7736778C}"/>
              </a:ext>
            </a:extLst>
          </p:cNvPr>
          <p:cNvSpPr>
            <a:spLocks noGrp="1"/>
          </p:cNvSpPr>
          <p:nvPr>
            <p:ph type="body" idx="1"/>
          </p:nvPr>
        </p:nvSpPr>
        <p:spPr/>
        <p:txBody>
          <a:bodyPr/>
          <a:lstStyle/>
          <a:p>
            <a:endParaRPr lang="en-US"/>
          </a:p>
        </p:txBody>
      </p:sp>
      <p:pic>
        <p:nvPicPr>
          <p:cNvPr id="4" name="Picture 3" descr="A screenshot of a graph&#10;&#10;AI-generated content may be incorrect.">
            <a:extLst>
              <a:ext uri="{FF2B5EF4-FFF2-40B4-BE49-F238E27FC236}">
                <a16:creationId xmlns:a16="http://schemas.microsoft.com/office/drawing/2014/main" id="{ED879462-BBFD-BED2-BC2D-F268438D7DF7}"/>
              </a:ext>
            </a:extLst>
          </p:cNvPr>
          <p:cNvPicPr>
            <a:picLocks noChangeAspect="1"/>
          </p:cNvPicPr>
          <p:nvPr/>
        </p:nvPicPr>
        <p:blipFill>
          <a:blip r:embed="rId2"/>
          <a:stretch>
            <a:fillRect/>
          </a:stretch>
        </p:blipFill>
        <p:spPr>
          <a:xfrm>
            <a:off x="476351" y="0"/>
            <a:ext cx="10425107" cy="6858000"/>
          </a:xfrm>
          <a:prstGeom prst="rect">
            <a:avLst/>
          </a:prstGeom>
        </p:spPr>
      </p:pic>
    </p:spTree>
    <p:extLst>
      <p:ext uri="{BB962C8B-B14F-4D97-AF65-F5344CB8AC3E}">
        <p14:creationId xmlns:p14="http://schemas.microsoft.com/office/powerpoint/2010/main" val="809300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09DFA-3440-FB0A-4399-A9A31243100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9ECC6AB-8F1F-4FA9-7DD6-A2C1ECF9FD0F}"/>
              </a:ext>
            </a:extLst>
          </p:cNvPr>
          <p:cNvSpPr>
            <a:spLocks noGrp="1"/>
          </p:cNvSpPr>
          <p:nvPr>
            <p:ph type="body"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D49B12D0-C71E-7110-0A06-3BB53A64D62B}"/>
              </a:ext>
            </a:extLst>
          </p:cNvPr>
          <p:cNvPicPr>
            <a:picLocks noChangeAspect="1"/>
          </p:cNvPicPr>
          <p:nvPr/>
        </p:nvPicPr>
        <p:blipFill>
          <a:blip r:embed="rId2"/>
          <a:stretch>
            <a:fillRect/>
          </a:stretch>
        </p:blipFill>
        <p:spPr>
          <a:xfrm>
            <a:off x="597694" y="187890"/>
            <a:ext cx="10245052" cy="6858000"/>
          </a:xfrm>
          <a:prstGeom prst="rect">
            <a:avLst/>
          </a:prstGeom>
        </p:spPr>
      </p:pic>
    </p:spTree>
    <p:extLst>
      <p:ext uri="{BB962C8B-B14F-4D97-AF65-F5344CB8AC3E}">
        <p14:creationId xmlns:p14="http://schemas.microsoft.com/office/powerpoint/2010/main" val="4110273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FD903-D0CE-3CB5-9D6F-A5E60574E8F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97DEF17-16BF-6AFC-057A-C2651B597166}"/>
              </a:ext>
            </a:extLst>
          </p:cNvPr>
          <p:cNvSpPr>
            <a:spLocks noGrp="1"/>
          </p:cNvSpPr>
          <p:nvPr>
            <p:ph type="body" idx="1"/>
          </p:nvPr>
        </p:nvSpPr>
        <p:spPr/>
        <p:txBody>
          <a:bodyPr>
            <a:normAutofit lnSpcReduction="10000"/>
          </a:bodyPr>
          <a:lstStyle/>
          <a:p>
            <a:endParaRPr lang="en-US"/>
          </a:p>
          <a:p>
            <a:pPr>
              <a:lnSpc>
                <a:spcPct val="150000"/>
              </a:lnSpc>
            </a:pPr>
            <a:r>
              <a:rPr lang="en-US" dirty="0"/>
              <a:t>This project is a cattle breed recognition system that uses six TensorFlow Lite (</a:t>
            </a:r>
            <a:r>
              <a:rPr lang="en-US" dirty="0" err="1"/>
              <a:t>TFLite</a:t>
            </a:r>
            <a:r>
              <a:rPr lang="en-US" dirty="0"/>
              <a:t>) deep learning models. An image from the dataset is uploaded, and each model processes the image to predict the cattle breed. The system displays the predicted breed along with confidence scores from each model, allowing easy comparison of results. Using multiple models helps improve accuracy and ensures more reliable predictions when most models agree on the same breed.</a:t>
            </a:r>
          </a:p>
          <a:p>
            <a:pPr>
              <a:lnSpc>
                <a:spcPct val="150000"/>
              </a:lnSpc>
            </a:pPr>
            <a:endParaRPr lang="en-US" dirty="0"/>
          </a:p>
        </p:txBody>
      </p:sp>
    </p:spTree>
    <p:extLst>
      <p:ext uri="{BB962C8B-B14F-4D97-AF65-F5344CB8AC3E}">
        <p14:creationId xmlns:p14="http://schemas.microsoft.com/office/powerpoint/2010/main" val="371488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a:latin typeface="Cambria" panose="02040503050406030204" pitchFamily="18" charset="0"/>
                <a:ea typeface="Cambria" panose="02040503050406030204" pitchFamily="18" charset="0"/>
              </a:rPr>
              <a:t>Timeline of the Project (Gantt Chart)</a:t>
            </a:r>
            <a:endParaRPr>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a:latin typeface="Cambria" panose="02040503050406030204" pitchFamily="18" charset="0"/>
              <a:ea typeface="Cambria" panose="02040503050406030204" pitchFamily="18" charset="0"/>
            </a:endParaRPr>
          </a:p>
        </p:txBody>
      </p:sp>
      <p:pic>
        <p:nvPicPr>
          <p:cNvPr id="3" name="Picture 2" descr="A chart with blue rectangles&#10;&#10;AI-generated content may be incorrect.">
            <a:extLst>
              <a:ext uri="{FF2B5EF4-FFF2-40B4-BE49-F238E27FC236}">
                <a16:creationId xmlns:a16="http://schemas.microsoft.com/office/drawing/2014/main" id="{6D6A33AB-2C60-2A40-8DB9-3372CF449DEE}"/>
              </a:ext>
            </a:extLst>
          </p:cNvPr>
          <p:cNvPicPr>
            <a:picLocks noChangeAspect="1"/>
          </p:cNvPicPr>
          <p:nvPr/>
        </p:nvPicPr>
        <p:blipFill>
          <a:blip r:embed="rId3"/>
          <a:stretch>
            <a:fillRect/>
          </a:stretch>
        </p:blipFill>
        <p:spPr>
          <a:xfrm>
            <a:off x="1063221" y="1137780"/>
            <a:ext cx="9637585" cy="459287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5522-6984-8D3D-2598-02224EAC7E78}"/>
              </a:ext>
            </a:extLst>
          </p:cNvPr>
          <p:cNvSpPr>
            <a:spLocks noGrp="1"/>
          </p:cNvSpPr>
          <p:nvPr>
            <p:ph type="title"/>
          </p:nvPr>
        </p:nvSpPr>
        <p:spPr/>
        <p:txBody>
          <a:bodyPr/>
          <a:lstStyle/>
          <a:p>
            <a:r>
              <a:rPr lang="en-US" dirty="0"/>
              <a:t>GitH</a:t>
            </a:r>
            <a:r>
              <a:rPr lang="en-US"/>
              <a:t>ub Link</a:t>
            </a:r>
          </a:p>
        </p:txBody>
      </p:sp>
      <p:sp>
        <p:nvSpPr>
          <p:cNvPr id="3" name="Text Placeholder 2">
            <a:extLst>
              <a:ext uri="{FF2B5EF4-FFF2-40B4-BE49-F238E27FC236}">
                <a16:creationId xmlns:a16="http://schemas.microsoft.com/office/drawing/2014/main" id="{FD12D4EE-C1FA-590B-0484-B234577CC4C5}"/>
              </a:ext>
            </a:extLst>
          </p:cNvPr>
          <p:cNvSpPr>
            <a:spLocks noGrp="1"/>
          </p:cNvSpPr>
          <p:nvPr>
            <p:ph type="body" idx="1"/>
          </p:nvPr>
        </p:nvSpPr>
        <p:spPr/>
        <p:txBody>
          <a:bodyPr/>
          <a:lstStyle/>
          <a:p>
            <a:endParaRPr lang="en-US"/>
          </a:p>
          <a:p>
            <a:endParaRPr lang="en-US" dirty="0"/>
          </a:p>
          <a:p>
            <a:r>
              <a:rPr lang="en-US" dirty="0">
                <a:hlinkClick r:id="rId2"/>
              </a:rPr>
              <a:t>https://github.com/Amisha170/University-Project-CSE7302-Image-based-breed-recognition-for-cattle-and-buffaloes-of-India-</a:t>
            </a:r>
          </a:p>
          <a:p>
            <a:endParaRPr lang="en-US" dirty="0"/>
          </a:p>
        </p:txBody>
      </p:sp>
    </p:spTree>
    <p:extLst>
      <p:ext uri="{BB962C8B-B14F-4D97-AF65-F5344CB8AC3E}">
        <p14:creationId xmlns:p14="http://schemas.microsoft.com/office/powerpoint/2010/main" val="578136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8885-C373-0BCA-235E-43429545AF9F}"/>
              </a:ext>
            </a:extLst>
          </p:cNvPr>
          <p:cNvSpPr>
            <a:spLocks noGrp="1"/>
          </p:cNvSpPr>
          <p:nvPr>
            <p:ph type="title"/>
          </p:nvPr>
        </p:nvSpPr>
        <p:spPr/>
        <p:txBody>
          <a:bodyPr/>
          <a:lstStyle/>
          <a:p>
            <a:r>
              <a:rPr lang="en-US"/>
              <a:t>Conclusion </a:t>
            </a:r>
          </a:p>
        </p:txBody>
      </p:sp>
      <p:sp>
        <p:nvSpPr>
          <p:cNvPr id="3" name="Text Placeholder 2">
            <a:extLst>
              <a:ext uri="{FF2B5EF4-FFF2-40B4-BE49-F238E27FC236}">
                <a16:creationId xmlns:a16="http://schemas.microsoft.com/office/drawing/2014/main" id="{BA83C2B0-A445-BAEF-736B-00202845559C}"/>
              </a:ext>
            </a:extLst>
          </p:cNvPr>
          <p:cNvSpPr>
            <a:spLocks noGrp="1"/>
          </p:cNvSpPr>
          <p:nvPr>
            <p:ph type="body" idx="1"/>
          </p:nvPr>
        </p:nvSpPr>
        <p:spPr/>
        <p:txBody>
          <a:bodyPr/>
          <a:lstStyle/>
          <a:p>
            <a:endParaRPr lang="en-US"/>
          </a:p>
          <a:p>
            <a:pPr>
              <a:lnSpc>
                <a:spcPct val="150000"/>
              </a:lnSpc>
            </a:pPr>
            <a:r>
              <a:rPr lang="en-US" sz="2000" dirty="0">
                <a:solidFill>
                  <a:srgbClr val="000000"/>
                </a:solidFill>
              </a:rPr>
              <a:t>We developed a deep learning system for Indian cattle and buffalo breed recognition using Six CNN models—MobileNetV2, MobileNetV3, DenseNet121, EfficientNetV2S, </a:t>
            </a:r>
            <a:r>
              <a:rPr lang="en-US" sz="2000" dirty="0" err="1">
                <a:solidFill>
                  <a:srgbClr val="000000"/>
                </a:solidFill>
              </a:rPr>
              <a:t>ConvNext</a:t>
            </a:r>
            <a:r>
              <a:rPr lang="en-US" sz="2000" dirty="0">
                <a:solidFill>
                  <a:srgbClr val="000000"/>
                </a:solidFill>
              </a:rPr>
              <a:t> and EfficientNetB3—trained on  images across  breeds. MobileNetV3 achieved the highest validation accuracy (55.86%). The models were optimized with TensorFlow Lite and deployed via a Flask web application, allowing users to upload images and receive breed predictions with confidence scores. This tool supports farmers and conservationists in breed identification. Future work includes dataset expansion, ensemble methods, and a mobile app for wider accessibility.</a:t>
            </a:r>
          </a:p>
        </p:txBody>
      </p:sp>
    </p:spTree>
    <p:extLst>
      <p:ext uri="{BB962C8B-B14F-4D97-AF65-F5344CB8AC3E}">
        <p14:creationId xmlns:p14="http://schemas.microsoft.com/office/powerpoint/2010/main" val="819584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a:latin typeface="Cambria" panose="02040503050406030204" pitchFamily="18" charset="0"/>
                <a:ea typeface="Cambria" panose="02040503050406030204" pitchFamily="18" charset="0"/>
              </a:rPr>
              <a:t>References (IEEE Paper format)</a:t>
            </a:r>
            <a:endParaRPr>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352FB0C9-E0BF-B37D-C40C-AA2E54DD063F}"/>
              </a:ext>
            </a:extLst>
          </p:cNvPr>
          <p:cNvSpPr>
            <a:spLocks noGrp="1"/>
          </p:cNvSpPr>
          <p:nvPr>
            <p:ph type="body" idx="1"/>
          </p:nvPr>
        </p:nvSpPr>
        <p:spPr/>
        <p:txBody>
          <a:bodyPr>
            <a:normAutofit fontScale="92500" lnSpcReduction="10000"/>
          </a:bodyPr>
          <a:lstStyle/>
          <a:p>
            <a:pPr>
              <a:buAutoNum type="arabicPeriod"/>
            </a:pPr>
            <a:endParaRPr lang="en-US"/>
          </a:p>
          <a:p>
            <a:pPr marL="533400" indent="-457200">
              <a:buAutoNum type="arabicPeriod"/>
            </a:pPr>
            <a:r>
              <a:rPr lang="en-US">
                <a:latin typeface="Arial"/>
              </a:rPr>
              <a:t> A. B. Valsang and A. Keshi, “Image Based Breed Recognition for Cattle and Buffaloes Using AI,” </a:t>
            </a:r>
            <a:r>
              <a:rPr lang="en-US" i="1">
                <a:latin typeface="Arial"/>
              </a:rPr>
              <a:t>Int. J. Innov. Res. Technol.</a:t>
            </a:r>
            <a:r>
              <a:rPr lang="en-US">
                <a:latin typeface="Arial"/>
              </a:rPr>
              <a:t>, vol. 12, no. 8, Jan. 2026.</a:t>
            </a:r>
          </a:p>
          <a:p>
            <a:pPr marL="533400" indent="-457200">
              <a:buAutoNum type="arabicPeriod"/>
            </a:pPr>
            <a:endParaRPr lang="en-US">
              <a:latin typeface="Arial"/>
            </a:endParaRPr>
          </a:p>
          <a:p>
            <a:pPr marL="533400" indent="-457200">
              <a:buAutoNum type="arabicPeriod"/>
            </a:pPr>
            <a:r>
              <a:rPr lang="en-US">
                <a:latin typeface="Arial"/>
              </a:rPr>
              <a:t>H. Gupta, P. Jindal, O. P. Verma, and R. K. Arya, “Computer Vision-Based Approach for Automatic Detection of Dairy Cow Breed,” </a:t>
            </a:r>
            <a:r>
              <a:rPr lang="en-US" i="1">
                <a:latin typeface="Arial"/>
              </a:rPr>
              <a:t>Electronics</a:t>
            </a:r>
            <a:r>
              <a:rPr lang="en-US">
                <a:latin typeface="Arial"/>
              </a:rPr>
              <a:t>, vol. 11, no. 22, p. 3791, 2022.</a:t>
            </a:r>
          </a:p>
          <a:p>
            <a:pPr marL="533400" indent="-457200">
              <a:buAutoNum type="arabicPeriod"/>
            </a:pPr>
            <a:endParaRPr lang="en-US">
              <a:latin typeface="Arial"/>
            </a:endParaRPr>
          </a:p>
          <a:p>
            <a:pPr marL="533400" indent="-457200">
              <a:buAutoNum type="arabicPeriod"/>
            </a:pPr>
            <a:r>
              <a:rPr lang="en-US">
                <a:latin typeface="Arial"/>
              </a:rPr>
              <a:t> Y. Pan et al., “Identification of Buffalo Breeds Using Self-Activated-Based Improved Convolutional Neural Networks,” </a:t>
            </a:r>
            <a:r>
              <a:rPr lang="en-US" i="1">
                <a:latin typeface="Arial"/>
              </a:rPr>
              <a:t>Agriculture</a:t>
            </a:r>
            <a:r>
              <a:rPr lang="en-US">
                <a:latin typeface="Arial"/>
              </a:rPr>
              <a:t>, MDPI, 2022.</a:t>
            </a:r>
          </a:p>
          <a:p>
            <a:pPr marL="533400" indent="-457200">
              <a:buAutoNum type="arabicPeriod"/>
            </a:pPr>
            <a:endParaRPr lang="en-US">
              <a:latin typeface="Arial"/>
            </a:endParaRPr>
          </a:p>
          <a:p>
            <a:pPr marL="533400" indent="-457200">
              <a:buAutoNum type="arabicPeriod"/>
            </a:pPr>
            <a:r>
              <a:rPr lang="en-US">
                <a:latin typeface="Arial"/>
              </a:rPr>
              <a:t>A. Ait Achour and A. Mourhir, “Automated Recognition of Cattle’s Breed Through Computer Vision,” in </a:t>
            </a:r>
            <a:r>
              <a:rPr lang="en-US" i="1">
                <a:latin typeface="Arial"/>
              </a:rPr>
              <a:t>Proc. 6th Int. Conf. Intelligent Computing in Data Sciences (ICDS)</a:t>
            </a:r>
            <a:r>
              <a:rPr lang="en-US">
                <a:latin typeface="Arial"/>
              </a:rPr>
              <a:t>, 2024,</a:t>
            </a:r>
          </a:p>
          <a:p>
            <a:pPr>
              <a:buAutoNum type="arabicPeriod"/>
            </a:pPr>
            <a:endParaRPr lang="en-US">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7</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Bioinformatics</vt:lpstr>
      <vt:lpstr>Image based breed recognition for cattle and buffaloes  of  India</vt:lpstr>
      <vt:lpstr>Problem Statement Number:   SIH25004</vt:lpstr>
      <vt:lpstr>Content</vt:lpstr>
      <vt:lpstr>Problem Statement:</vt:lpstr>
      <vt:lpstr>  Objectives </vt:lpstr>
      <vt:lpstr>Algorithms  used </vt:lpstr>
      <vt:lpstr>PowerPoint Presentation</vt:lpstr>
      <vt:lpstr>Architecture </vt:lpstr>
      <vt:lpstr>6 Models used </vt:lpstr>
      <vt:lpstr>  6 Model Accuracy Results </vt:lpstr>
      <vt:lpstr>Project Implementation </vt:lpstr>
      <vt:lpstr>PowerPoint Presentation</vt:lpstr>
      <vt:lpstr>Result :</vt:lpstr>
      <vt:lpstr>PowerPoint Presentation</vt:lpstr>
      <vt:lpstr>PowerPoint Presentation</vt:lpstr>
      <vt:lpstr>PowerPoint Presentation</vt:lpstr>
      <vt:lpstr>Timeline of the Project (Gantt Chart)</vt:lpstr>
      <vt:lpstr>GitHub Link</vt:lpstr>
      <vt:lpstr>Conclusion </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revision>94</cp:revision>
  <dcterms:modified xsi:type="dcterms:W3CDTF">2026-04-21T08:48:57Z</dcterms:modified>
</cp:coreProperties>
</file>