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7"/>
  </p:notesMasterIdLst>
  <p:sldIdLst>
    <p:sldId id="256" r:id="rId2"/>
    <p:sldId id="269" r:id="rId3"/>
    <p:sldId id="257" r:id="rId4"/>
    <p:sldId id="274" r:id="rId5"/>
    <p:sldId id="276" r:id="rId6"/>
    <p:sldId id="278" r:id="rId7"/>
    <p:sldId id="284" r:id="rId8"/>
    <p:sldId id="285" r:id="rId9"/>
    <p:sldId id="286" r:id="rId10"/>
    <p:sldId id="287" r:id="rId11"/>
    <p:sldId id="273" r:id="rId12"/>
    <p:sldId id="289" r:id="rId13"/>
    <p:sldId id="270" r:id="rId14"/>
    <p:sldId id="265" r:id="rId15"/>
    <p:sldId id="26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975143E-EDA9-6D72-87FF-FC6E95A9131A}" v="1" dt="2026-04-08T14:16:03.531"/>
  </p1510:revLst>
</p1510:revInfo>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65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3956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algn="ctr"/>
            <a:r>
              <a:rPr lang="en-GB" sz="2400" dirty="0">
                <a:solidFill>
                  <a:schemeClr val="tx1"/>
                </a:solidFill>
                <a:latin typeface="Cambria"/>
                <a:ea typeface="Cambria"/>
              </a:rPr>
              <a:t>Image based breed recognition for cattle and buffaloes  of  India</a:t>
            </a:r>
            <a:endParaRPr lang="en-GB"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indent="0" algn="l">
              <a:spcBef>
                <a:spcPts val="0"/>
              </a:spcBef>
            </a:pPr>
            <a:r>
              <a:rPr lang="en-GB" sz="1800" dirty="0">
                <a:latin typeface="Cambria"/>
                <a:ea typeface="Cambria"/>
              </a:rPr>
              <a:t>Batch Number:  COM_10</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a:spcBef>
                <a:spcPts val="340"/>
              </a:spcBef>
              <a:buClr>
                <a:srgbClr val="17365D"/>
              </a:buClr>
              <a:buSzPts val="1700"/>
            </a:pPr>
            <a:r>
              <a:rPr lang="en-GB" sz="1700" b="1" i="0" u="none" strike="noStrike" cap="none" dirty="0">
                <a:solidFill>
                  <a:srgbClr val="17365D"/>
                </a:solidFill>
                <a:latin typeface="Cambria"/>
                <a:ea typeface="Cambria"/>
                <a:cs typeface="Verdana"/>
                <a:sym typeface="Verdana"/>
              </a:rPr>
              <a:t>Dr./Mr./Ms./Prof.</a:t>
            </a:r>
            <a:r>
              <a:rPr lang="en-GB" sz="1700" b="1" dirty="0">
                <a:solidFill>
                  <a:srgbClr val="17365D"/>
                </a:solidFill>
                <a:latin typeface="Cambria"/>
                <a:ea typeface="Cambria"/>
                <a:cs typeface="Verdana"/>
                <a:sym typeface="Verdana"/>
              </a:rPr>
              <a:t>  Murali Parameswaran </a:t>
            </a:r>
            <a:endParaRPr lang="en-GB" sz="1700" b="1" dirty="0">
              <a:solidFill>
                <a:srgbClr val="17365D"/>
              </a:solidFill>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Professor / Associate Professor / 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1377921472"/>
              </p:ext>
            </p:extLst>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endParaRPr lang="en-GB"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lang="en-GB"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algn="ctr">
              <a:buClr>
                <a:srgbClr val="17365D"/>
              </a:buClr>
              <a:buSzPct val="100000"/>
            </a:pPr>
            <a:r>
              <a:rPr lang="en-GB" sz="1800" b="1">
                <a:solidFill>
                  <a:srgbClr val="17365D"/>
                </a:solidFill>
                <a:latin typeface="Cambria"/>
                <a:ea typeface="Cambria"/>
                <a:cs typeface="Verdana"/>
                <a:sym typeface="Verdana"/>
              </a:rPr>
              <a:t>CSE7302 – University Project</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a:buClr>
                <a:srgbClr val="17365D"/>
              </a:buClr>
              <a:buSzPct val="100000"/>
            </a:pPr>
            <a:r>
              <a:rPr lang="en-US" sz="1800" b="1" i="0" u="none" strike="noStrike" cap="none" dirty="0">
                <a:solidFill>
                  <a:schemeClr val="accent1"/>
                </a:solidFill>
                <a:latin typeface="Cambria"/>
                <a:ea typeface="Cambria"/>
                <a:cs typeface="Verdana"/>
                <a:sym typeface="Verdana"/>
              </a:rPr>
              <a:t>Name of the Program: </a:t>
            </a:r>
            <a:r>
              <a:rPr lang="en-US" sz="1800" b="1" dirty="0">
                <a:solidFill>
                  <a:schemeClr val="tx1"/>
                </a:solidFill>
                <a:latin typeface="Cambria"/>
                <a:ea typeface="Cambria"/>
                <a:cs typeface="Verdana"/>
                <a:sym typeface="Verdana"/>
              </a:rPr>
              <a:t>Computer Engineering</a:t>
            </a:r>
            <a:endParaRPr lang="en-US" sz="1800" b="1" i="0" u="none" strike="noStrike" cap="none" dirty="0">
              <a:solidFill>
                <a:schemeClr val="tx1"/>
              </a:solidFill>
              <a:latin typeface="Cambria" panose="02040503050406030204" pitchFamily="18" charset="0"/>
              <a:ea typeface="Cambria" panose="02040503050406030204" pitchFamily="18" charset="0"/>
              <a:cs typeface="Verdana"/>
            </a:endParaRPr>
          </a:p>
          <a:p>
            <a:pPr>
              <a:buClr>
                <a:srgbClr val="17365D"/>
              </a:buClr>
              <a:buSzPct val="100000"/>
            </a:pPr>
            <a:r>
              <a:rPr lang="en-US" sz="1800" b="1" dirty="0">
                <a:solidFill>
                  <a:schemeClr val="accent1"/>
                </a:solidFill>
                <a:latin typeface="Cambria"/>
                <a:ea typeface="Cambria"/>
                <a:cs typeface="Verdana"/>
                <a:sym typeface="Verdana"/>
              </a:rPr>
              <a:t>Name of the </a:t>
            </a:r>
            <a:r>
              <a:rPr lang="en-US" sz="1800" b="1" dirty="0" err="1">
                <a:solidFill>
                  <a:schemeClr val="accent1"/>
                </a:solidFill>
                <a:latin typeface="Cambria"/>
                <a:ea typeface="Cambria"/>
                <a:cs typeface="Verdana"/>
                <a:sym typeface="Verdana"/>
              </a:rPr>
              <a:t>HoD</a:t>
            </a:r>
            <a:r>
              <a:rPr lang="en-US" sz="1800" b="1" dirty="0">
                <a:solidFill>
                  <a:schemeClr val="accent1"/>
                </a:solidFill>
                <a:latin typeface="Cambria"/>
                <a:ea typeface="Cambria"/>
                <a:cs typeface="Verdana"/>
                <a:sym typeface="Verdana"/>
              </a:rPr>
              <a:t>:  </a:t>
            </a:r>
            <a:r>
              <a:rPr lang="en-US" sz="1800" b="1" dirty="0" err="1">
                <a:solidFill>
                  <a:schemeClr val="tx1"/>
                </a:solidFill>
                <a:latin typeface="Cambria"/>
                <a:ea typeface="Cambria"/>
                <a:cs typeface="Verdana"/>
                <a:sym typeface="Verdana"/>
              </a:rPr>
              <a:t>Dr.Gopal</a:t>
            </a:r>
            <a:r>
              <a:rPr lang="en-US" sz="1800" b="1" dirty="0">
                <a:solidFill>
                  <a:schemeClr val="tx1"/>
                </a:solidFill>
                <a:latin typeface="Cambria"/>
                <a:ea typeface="Cambria"/>
                <a:cs typeface="Verdana"/>
                <a:sym typeface="Verdana"/>
              </a:rPr>
              <a:t> </a:t>
            </a:r>
            <a:r>
              <a:rPr lang="en-US" sz="1800" b="1" dirty="0" err="1">
                <a:solidFill>
                  <a:schemeClr val="tx1"/>
                </a:solidFill>
                <a:latin typeface="Cambria"/>
                <a:ea typeface="Cambria"/>
                <a:cs typeface="Verdana"/>
                <a:sym typeface="Verdana"/>
              </a:rPr>
              <a:t>krishn</a:t>
            </a:r>
            <a:r>
              <a:rPr lang="en-US" sz="1800" b="1" dirty="0">
                <a:solidFill>
                  <a:schemeClr val="tx1"/>
                </a:solidFill>
                <a:latin typeface="Cambria"/>
                <a:ea typeface="Cambria"/>
                <a:cs typeface="Verdana"/>
                <a:sym typeface="Verdana"/>
              </a:rPr>
              <a:t> </a:t>
            </a:r>
            <a:r>
              <a:rPr lang="en-US" sz="1800" b="1" dirty="0" err="1">
                <a:solidFill>
                  <a:schemeClr val="tx1"/>
                </a:solidFill>
                <a:latin typeface="Cambria"/>
                <a:ea typeface="Cambria"/>
                <a:cs typeface="Verdana"/>
                <a:sym typeface="Verdana"/>
              </a:rPr>
              <a:t>shyam</a:t>
            </a:r>
            <a:endParaRPr lang="en-US" sz="1800" b="1" dirty="0" err="1">
              <a:solidFill>
                <a:schemeClr val="tx1"/>
              </a:solidFill>
              <a:latin typeface="Cambria" panose="02040503050406030204" pitchFamily="18" charset="0"/>
              <a:ea typeface="Cambria" panose="02040503050406030204" pitchFamily="18" charset="0"/>
              <a:cs typeface="Verdana"/>
            </a:endParaRPr>
          </a:p>
          <a:p>
            <a:pPr>
              <a:buClr>
                <a:srgbClr val="17365D"/>
              </a:buClr>
              <a:buSzPct val="100000"/>
            </a:pPr>
            <a:r>
              <a:rPr lang="en-US" sz="1800" b="1" i="0" u="none" strike="noStrike" cap="none" dirty="0">
                <a:solidFill>
                  <a:schemeClr val="accent1"/>
                </a:solidFill>
                <a:latin typeface="Cambria"/>
                <a:ea typeface="Cambria"/>
                <a:cs typeface="Verdana"/>
                <a:sym typeface="Verdana"/>
              </a:rPr>
              <a:t>Name of the Program Project Coordinator</a:t>
            </a:r>
            <a:r>
              <a:rPr lang="en-US" sz="1800" b="1" dirty="0">
                <a:solidFill>
                  <a:schemeClr val="accent1"/>
                </a:solidFill>
                <a:latin typeface="Cambria"/>
                <a:ea typeface="Cambria"/>
                <a:cs typeface="Verdana"/>
                <a:sym typeface="Verdana"/>
              </a:rPr>
              <a:t>:</a:t>
            </a:r>
            <a:r>
              <a:rPr lang="en-US" sz="1800" b="1" dirty="0">
                <a:solidFill>
                  <a:schemeClr val="tx1">
                    <a:lumMod val="95000"/>
                    <a:lumOff val="5000"/>
                  </a:schemeClr>
                </a:solidFill>
                <a:latin typeface="Cambria"/>
                <a:ea typeface="Cambria"/>
                <a:cs typeface="Verdana"/>
                <a:sym typeface="Verdana"/>
              </a:rPr>
              <a:t> Smitha Guddin</a:t>
            </a:r>
            <a:endParaRPr lang="en-US" sz="1800" b="1" dirty="0" err="1">
              <a:solidFill>
                <a:schemeClr val="tx1">
                  <a:lumMod val="95000"/>
                  <a:lumOff val="5000"/>
                </a:schemeClr>
              </a:solidFill>
              <a:latin typeface="Cambria" panose="02040503050406030204" pitchFamily="18" charset="0"/>
              <a:ea typeface="Cambria" panose="02040503050406030204" pitchFamily="18" charset="0"/>
              <a:cs typeface="Verdana"/>
            </a:endParaRPr>
          </a:p>
          <a:p>
            <a:pPr lvl="0">
              <a:buClr>
                <a:srgbClr val="17365D"/>
              </a:buClr>
              <a:buSzPct val="100000"/>
            </a:pPr>
            <a:r>
              <a:rPr lang="en-US" sz="1800" b="1" dirty="0">
                <a:solidFill>
                  <a:schemeClr val="accent1"/>
                </a:solidFill>
                <a:latin typeface="Cambria"/>
                <a:ea typeface="Cambria"/>
                <a:cs typeface="Verdana"/>
                <a:sym typeface="Verdana"/>
              </a:rPr>
              <a:t>Name of the School Project Coordinators: </a:t>
            </a:r>
            <a:r>
              <a:rPr lang="en-US" sz="1800" b="1" i="0" u="none" strike="noStrike" cap="none" dirty="0">
                <a:solidFill>
                  <a:schemeClr val="tx1"/>
                </a:solidFill>
                <a:latin typeface="Cambria"/>
                <a:ea typeface="Cambria"/>
                <a:cs typeface="Verdana"/>
                <a:sym typeface="Verdana"/>
              </a:rPr>
              <a:t>Dr. Sampath A K , Dr. Geetha A </a:t>
            </a:r>
            <a:endParaRPr sz="1800" b="1" i="0" u="none" strike="noStrike" cap="none" dirty="0">
              <a:solidFill>
                <a:schemeClr val="tx1"/>
              </a:solidFill>
              <a:latin typeface="Cambria"/>
              <a:ea typeface="Cambria"/>
              <a:cs typeface="Verdana"/>
              <a:sym typeface="Verdana"/>
            </a:endParaRPr>
          </a:p>
        </p:txBody>
      </p:sp>
      <p:graphicFrame>
        <p:nvGraphicFramePr>
          <p:cNvPr id="2" name="Table 1">
            <a:extLst>
              <a:ext uri="{FF2B5EF4-FFF2-40B4-BE49-F238E27FC236}">
                <a16:creationId xmlns:a16="http://schemas.microsoft.com/office/drawing/2014/main" id="{AC8B6687-4F95-413E-EEB8-2A8711E43EDA}"/>
              </a:ext>
            </a:extLst>
          </p:cNvPr>
          <p:cNvGraphicFramePr>
            <a:graphicFrameLocks noGrp="1"/>
          </p:cNvGraphicFramePr>
          <p:nvPr>
            <p:extLst>
              <p:ext uri="{D42A27DB-BD31-4B8C-83A1-F6EECF244321}">
                <p14:modId xmlns:p14="http://schemas.microsoft.com/office/powerpoint/2010/main" val="3849025746"/>
              </p:ext>
            </p:extLst>
          </p:nvPr>
        </p:nvGraphicFramePr>
        <p:xfrm>
          <a:off x="404173" y="2768294"/>
          <a:ext cx="5561994" cy="1127760"/>
        </p:xfrm>
        <a:graphic>
          <a:graphicData uri="http://schemas.openxmlformats.org/drawingml/2006/table">
            <a:tbl>
              <a:tblPr firstRow="1" bandRow="1"/>
              <a:tblGrid>
                <a:gridCol w="2780997">
                  <a:extLst>
                    <a:ext uri="{9D8B030D-6E8A-4147-A177-3AD203B41FA5}">
                      <a16:colId xmlns:a16="http://schemas.microsoft.com/office/drawing/2014/main" val="973894710"/>
                    </a:ext>
                  </a:extLst>
                </a:gridCol>
                <a:gridCol w="2780997">
                  <a:extLst>
                    <a:ext uri="{9D8B030D-6E8A-4147-A177-3AD203B41FA5}">
                      <a16:colId xmlns:a16="http://schemas.microsoft.com/office/drawing/2014/main" val="372835794"/>
                    </a:ext>
                  </a:extLst>
                </a:gridCol>
              </a:tblGrid>
              <a:tr h="312345">
                <a:tc>
                  <a:txBody>
                    <a:bodyPr/>
                    <a:lstStyle/>
                    <a:p>
                      <a:r>
                        <a:rPr lang="en-US" dirty="0"/>
                        <a:t>  </a:t>
                      </a:r>
                      <a:r>
                        <a:rPr lang="en-US" sz="1800" dirty="0"/>
                        <a:t>      </a:t>
                      </a:r>
                      <a:r>
                        <a:rPr lang="en-US" sz="2000" dirty="0">
                          <a:solidFill>
                            <a:schemeClr val="accent1">
                              <a:lumMod val="49000"/>
                            </a:schemeClr>
                          </a:solidFill>
                        </a:rPr>
                        <a:t>Student Name</a:t>
                      </a:r>
                    </a:p>
                  </a:txBody>
                  <a:tcPr/>
                </a:tc>
                <a:tc>
                  <a:txBody>
                    <a:bodyPr/>
                    <a:lstStyle/>
                    <a:p>
                      <a:r>
                        <a:rPr lang="en-US" dirty="0"/>
                        <a:t>  </a:t>
                      </a:r>
                      <a:r>
                        <a:rPr lang="en-US" sz="1800" dirty="0"/>
                        <a:t>        </a:t>
                      </a:r>
                      <a:r>
                        <a:rPr lang="en-US" sz="2000" dirty="0">
                          <a:solidFill>
                            <a:schemeClr val="accent1">
                              <a:lumMod val="49000"/>
                            </a:schemeClr>
                          </a:solidFill>
                        </a:rPr>
                        <a:t>Roll Number</a:t>
                      </a:r>
                    </a:p>
                  </a:txBody>
                  <a:tcPr/>
                </a:tc>
                <a:extLst>
                  <a:ext uri="{0D108BD9-81ED-4DB2-BD59-A6C34878D82A}">
                    <a16:rowId xmlns:a16="http://schemas.microsoft.com/office/drawing/2014/main" val="3701585278"/>
                  </a:ext>
                </a:extLst>
              </a:tr>
              <a:tr h="290805">
                <a:tc>
                  <a:txBody>
                    <a:bodyPr/>
                    <a:lstStyle/>
                    <a:p>
                      <a:r>
                        <a:rPr lang="en-US" dirty="0"/>
                        <a:t>           </a:t>
                      </a:r>
                      <a:r>
                        <a:rPr lang="en-US" sz="1800" dirty="0">
                          <a:solidFill>
                            <a:schemeClr val="tx1"/>
                          </a:solidFill>
                        </a:rPr>
                        <a:t>AMISHA</a:t>
                      </a:r>
                    </a:p>
                  </a:txBody>
                  <a:tcPr/>
                </a:tc>
                <a:tc>
                  <a:txBody>
                    <a:bodyPr/>
                    <a:lstStyle/>
                    <a:p>
                      <a:r>
                        <a:rPr lang="en-US" dirty="0"/>
                        <a:t>     </a:t>
                      </a:r>
                      <a:r>
                        <a:rPr lang="en-US" sz="1800" dirty="0">
                          <a:solidFill>
                            <a:schemeClr val="tx1"/>
                          </a:solidFill>
                        </a:rPr>
                        <a:t>20221COM0170</a:t>
                      </a:r>
                    </a:p>
                  </a:txBody>
                  <a:tcPr/>
                </a:tc>
                <a:extLst>
                  <a:ext uri="{0D108BD9-81ED-4DB2-BD59-A6C34878D82A}">
                    <a16:rowId xmlns:a16="http://schemas.microsoft.com/office/drawing/2014/main" val="147362171"/>
                  </a:ext>
                </a:extLst>
              </a:tr>
              <a:tr h="290805">
                <a:tc>
                  <a:txBody>
                    <a:bodyPr/>
                    <a:lstStyle/>
                    <a:p>
                      <a:r>
                        <a:rPr lang="en-US" dirty="0"/>
                        <a:t>           </a:t>
                      </a:r>
                      <a:r>
                        <a:rPr lang="en-US" sz="1800" dirty="0"/>
                        <a:t>KAVYA D K</a:t>
                      </a:r>
                    </a:p>
                  </a:txBody>
                  <a:tcPr/>
                </a:tc>
                <a:tc>
                  <a:txBody>
                    <a:bodyPr/>
                    <a:lstStyle/>
                    <a:p>
                      <a:r>
                        <a:rPr lang="en-US" dirty="0"/>
                        <a:t>     </a:t>
                      </a:r>
                      <a:r>
                        <a:rPr lang="en-US" sz="1800" dirty="0">
                          <a:solidFill>
                            <a:schemeClr val="tx1"/>
                          </a:solidFill>
                        </a:rPr>
                        <a:t>20221COM0179</a:t>
                      </a:r>
                    </a:p>
                  </a:txBody>
                  <a:tcPr/>
                </a:tc>
                <a:extLst>
                  <a:ext uri="{0D108BD9-81ED-4DB2-BD59-A6C34878D82A}">
                    <a16:rowId xmlns:a16="http://schemas.microsoft.com/office/drawing/2014/main" val="127691446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r>
              <a:rPr lang="en-GB" dirty="0">
                <a:latin typeface="Cambria"/>
                <a:ea typeface="Cambria"/>
              </a:rPr>
              <a:t>Problem Statement Number:   SIH25004</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lnSpcReduction="10000"/>
          </a:bodyPr>
          <a:lstStyle/>
          <a:p>
            <a:pPr marL="342900" indent="-190500" algn="just">
              <a:spcBef>
                <a:spcPts val="0"/>
              </a:spcBef>
              <a:buNone/>
            </a:pPr>
            <a:r>
              <a:rPr lang="en-US" b="1" dirty="0">
                <a:latin typeface="Cambria"/>
                <a:ea typeface="Cambria"/>
              </a:rPr>
              <a:t>Organization</a:t>
            </a:r>
            <a:r>
              <a:rPr lang="en-US" dirty="0">
                <a:latin typeface="Cambria"/>
                <a:ea typeface="Cambria"/>
              </a:rPr>
              <a:t>:  Presidency University</a:t>
            </a: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None/>
            </a:pPr>
            <a:r>
              <a:rPr lang="en-US" b="1" dirty="0">
                <a:latin typeface="Cambria"/>
                <a:ea typeface="Cambria"/>
              </a:rPr>
              <a:t>Category </a:t>
            </a:r>
            <a:r>
              <a:rPr lang="en-US" dirty="0">
                <a:latin typeface="Cambria"/>
                <a:ea typeface="Cambria"/>
              </a:rPr>
              <a:t> :   Software</a:t>
            </a: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None/>
            </a:pPr>
            <a:r>
              <a:rPr lang="en-US" b="1" dirty="0">
                <a:latin typeface="Cambria"/>
                <a:ea typeface="Cambria"/>
              </a:rPr>
              <a:t>Problem Description</a:t>
            </a:r>
            <a:r>
              <a:rPr lang="en-US" dirty="0">
                <a:latin typeface="Cambria"/>
                <a:ea typeface="Cambria"/>
              </a:rPr>
              <a:t>: - </a:t>
            </a:r>
            <a:r>
              <a:rPr lang="en-US" sz="2000" dirty="0">
                <a:latin typeface="Arial"/>
              </a:rPr>
              <a:t>The manual identification of cattle and buffalo breeds in India is time-consuming, error-prone, and highly dependent on expert knowledge. Due to variations in appearance, lighting, and image quality, traditional methods are inefficient and inconsistent. Hence, there is a need for an automated image-based breed recognition system using deep learning techniques to accurately identify Indian cattle and buffalo breeds from images.</a:t>
            </a: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426138" y="652082"/>
            <a:ext cx="11054218" cy="5803201"/>
          </a:xfrm>
          <a:prstGeom prst="rect">
            <a:avLst/>
          </a:prstGeom>
          <a:noFill/>
          <a:ln>
            <a:noFill/>
          </a:ln>
        </p:spPr>
        <p:txBody>
          <a:bodyPr spcFirstLastPara="1" wrap="square" lIns="91425" tIns="45700" rIns="91425" bIns="45700" anchor="t" anchorCtr="0">
            <a:noAutofit/>
          </a:bodyPr>
          <a:lstStyle/>
          <a:p>
            <a:pPr marL="495300" indent="-342900" algn="just">
              <a:lnSpc>
                <a:spcPct val="200000"/>
              </a:lnSpc>
              <a:spcBef>
                <a:spcPts val="0"/>
              </a:spcBef>
            </a:pPr>
            <a:r>
              <a:rPr lang="en-US" sz="2000" dirty="0">
                <a:latin typeface="Cambria"/>
                <a:ea typeface="Cambria"/>
              </a:rPr>
              <a:t>Problem Statement</a:t>
            </a:r>
            <a:endParaRPr lang="en-US"/>
          </a:p>
          <a:p>
            <a:pPr marL="495300" indent="-342900" algn="just">
              <a:lnSpc>
                <a:spcPct val="200000"/>
              </a:lnSpc>
              <a:spcBef>
                <a:spcPts val="0"/>
              </a:spcBef>
              <a:buFont typeface="Arial" panose="020B0604020202020204" pitchFamily="34" charset="0"/>
              <a:buChar char="•"/>
            </a:pPr>
            <a:r>
              <a:rPr lang="en-US" sz="2000" dirty="0">
                <a:latin typeface="Cambria"/>
                <a:ea typeface="Cambria"/>
              </a:rPr>
              <a:t>Objectives</a:t>
            </a:r>
          </a:p>
          <a:p>
            <a:pPr marL="495300" indent="-342900" algn="just">
              <a:lnSpc>
                <a:spcPct val="200000"/>
              </a:lnSpc>
              <a:spcBef>
                <a:spcPts val="0"/>
              </a:spcBef>
              <a:buFont typeface="Arial" panose="020B0604020202020204" pitchFamily="34" charset="0"/>
              <a:buChar char="•"/>
            </a:pPr>
            <a:r>
              <a:rPr lang="en-US" sz="2000" dirty="0">
                <a:latin typeface="Cambria"/>
                <a:ea typeface="Cambria"/>
              </a:rPr>
              <a:t>Background and Related work for title Selection</a:t>
            </a:r>
          </a:p>
          <a:p>
            <a:pPr marL="495300" indent="-342900" algn="just">
              <a:lnSpc>
                <a:spcPct val="200000"/>
              </a:lnSpc>
              <a:spcBef>
                <a:spcPts val="0"/>
              </a:spcBef>
              <a:buFont typeface="Arial" panose="020B0604020202020204" pitchFamily="34" charset="0"/>
              <a:buChar char="•"/>
            </a:pPr>
            <a:r>
              <a:rPr lang="en-US" sz="2000">
                <a:latin typeface="Cambria"/>
                <a:ea typeface="Cambria"/>
              </a:rPr>
              <a:t>Proposed System</a:t>
            </a:r>
            <a:endParaRPr lang="en-US" sz="2000" dirty="0">
              <a:latin typeface="Cambria"/>
              <a:ea typeface="Cambria"/>
            </a:endParaRPr>
          </a:p>
          <a:p>
            <a:pPr marL="495300" lvl="0" indent="-342900" algn="just">
              <a:lnSpc>
                <a:spcPct val="200000"/>
              </a:lnSpc>
              <a:spcBef>
                <a:spcPts val="0"/>
              </a:spcBef>
              <a:buFont typeface="Arial" panose="020B0604020202020204" pitchFamily="34" charset="0"/>
              <a:buChar char="•"/>
            </a:pPr>
            <a:r>
              <a:rPr lang="en-US" sz="2000">
                <a:latin typeface="Cambria"/>
                <a:ea typeface="Cambria"/>
              </a:rPr>
              <a:t>Methodology</a:t>
            </a:r>
            <a:endParaRPr lang="en-US" sz="2000" dirty="0">
              <a:latin typeface="Cambria"/>
              <a:ea typeface="Cambria"/>
            </a:endParaRPr>
          </a:p>
          <a:p>
            <a:pPr marL="495300" indent="-342900" algn="just">
              <a:lnSpc>
                <a:spcPct val="200000"/>
              </a:lnSpc>
              <a:spcBef>
                <a:spcPts val="0"/>
              </a:spcBef>
              <a:buFont typeface="Arial" panose="020B0604020202020204" pitchFamily="34" charset="0"/>
              <a:buChar char="•"/>
            </a:pPr>
            <a:r>
              <a:rPr lang="en-US" sz="2000">
                <a:latin typeface="Cambria"/>
                <a:ea typeface="Cambria"/>
              </a:rPr>
              <a:t>Software Requirements</a:t>
            </a:r>
            <a:endParaRPr lang="en-US" sz="2000" dirty="0">
              <a:latin typeface="Cambria"/>
              <a:ea typeface="Cambria"/>
            </a:endParaRPr>
          </a:p>
          <a:p>
            <a:pPr marL="495300" indent="-342900" algn="just">
              <a:lnSpc>
                <a:spcPct val="200000"/>
              </a:lnSpc>
              <a:spcBef>
                <a:spcPts val="0"/>
              </a:spcBef>
              <a:buFont typeface="Arial" panose="020B0604020202020204" pitchFamily="34" charset="0"/>
              <a:buChar char="•"/>
            </a:pPr>
            <a:r>
              <a:rPr lang="en-US" sz="2000" dirty="0">
                <a:latin typeface="Cambria"/>
                <a:ea typeface="Cambria"/>
              </a:rPr>
              <a:t>Git-hub Link</a:t>
            </a:r>
          </a:p>
          <a:p>
            <a:pPr marL="495300" indent="-342900" algn="just">
              <a:lnSpc>
                <a:spcPct val="200000"/>
              </a:lnSpc>
              <a:spcBef>
                <a:spcPts val="0"/>
              </a:spcBef>
              <a:buFont typeface="Arial" panose="020B0604020202020204" pitchFamily="34" charset="0"/>
              <a:buChar char="•"/>
            </a:pPr>
            <a:r>
              <a:rPr lang="en-US" sz="2000">
                <a:latin typeface="Cambria"/>
                <a:ea typeface="Cambria"/>
              </a:rPr>
              <a:t>Timeline of the project</a:t>
            </a:r>
          </a:p>
          <a:p>
            <a:pPr marL="495300" indent="-342900" algn="just">
              <a:lnSpc>
                <a:spcPct val="200000"/>
              </a:lnSpc>
              <a:spcBef>
                <a:spcPts val="0"/>
              </a:spcBef>
              <a:buFont typeface="Arial" panose="020B0604020202020204" pitchFamily="34" charset="0"/>
              <a:buChar char="•"/>
            </a:pPr>
            <a:r>
              <a:rPr lang="en-US" sz="2000">
                <a:latin typeface="Cambria"/>
                <a:ea typeface="Cambria"/>
              </a:rPr>
              <a:t>References</a:t>
            </a:r>
            <a:endParaRPr lang="en-US" sz="2000" dirty="0">
              <a:latin typeface="Cambria"/>
              <a:ea typeface="Cambria"/>
            </a:endParaRPr>
          </a:p>
          <a:p>
            <a:pPr marL="495300" lvl="0" indent="-342900" algn="just">
              <a:lnSpc>
                <a:spcPct val="200000"/>
              </a:lnSpc>
              <a:spcBef>
                <a:spcPts val="0"/>
              </a:spcBef>
              <a:spcAft>
                <a:spcPts val="0"/>
              </a:spcAft>
              <a:buClr>
                <a:schemeClr val="dk1"/>
              </a:buClr>
              <a:buSzPts val="2400"/>
              <a:buFont typeface="Arial" panose="020B0604020202020204" pitchFamily="34" charset="0"/>
              <a:buChar char="•"/>
            </a:pPr>
            <a:endParaRPr lang="en-US" sz="2000"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Arial" panose="05000000000000000000" pitchFamily="2" charset="2"/>
              <a:buChar char="•"/>
            </a:pPr>
            <a:endParaRPr lang="en-US" sz="1800"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Arial" panose="05000000000000000000" pitchFamily="2" charset="2"/>
              <a:buChar char="•"/>
            </a:pPr>
            <a:endParaRPr lang="en-US"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5000000000000000000" pitchFamily="2" charset="2"/>
              <a:buChar char="•"/>
            </a:pPr>
            <a:endParaRPr lang="en-US"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r>
              <a:rPr lang="en-GB">
                <a:latin typeface="Cambria"/>
                <a:ea typeface="Cambria"/>
              </a:rPr>
              <a:t>Problem Statement:</a:t>
            </a:r>
            <a:endParaRPr lang="en-US"/>
          </a:p>
        </p:txBody>
      </p:sp>
      <p:sp>
        <p:nvSpPr>
          <p:cNvPr id="3" name="Text Placeholder 2">
            <a:extLst>
              <a:ext uri="{FF2B5EF4-FFF2-40B4-BE49-F238E27FC236}">
                <a16:creationId xmlns:a16="http://schemas.microsoft.com/office/drawing/2014/main" id="{76953854-2FC9-F5B8-2750-96E8BB83D013}"/>
              </a:ext>
            </a:extLst>
          </p:cNvPr>
          <p:cNvSpPr>
            <a:spLocks noGrp="1"/>
          </p:cNvSpPr>
          <p:nvPr>
            <p:ph type="body" idx="1"/>
          </p:nvPr>
        </p:nvSpPr>
        <p:spPr>
          <a:xfrm>
            <a:off x="635348" y="777659"/>
            <a:ext cx="10845452" cy="5318342"/>
          </a:xfrm>
        </p:spPr>
        <p:txBody>
          <a:bodyPr/>
          <a:lstStyle/>
          <a:p>
            <a:pPr algn="just">
              <a:buNone/>
            </a:pPr>
            <a:endParaRPr lang="en-US" sz="2000" dirty="0"/>
          </a:p>
          <a:p>
            <a:pPr algn="just">
              <a:buNone/>
            </a:pPr>
            <a:endParaRPr lang="en-US" sz="2000" dirty="0"/>
          </a:p>
          <a:p>
            <a:pPr marL="76200" indent="0" algn="just">
              <a:lnSpc>
                <a:spcPct val="150000"/>
              </a:lnSpc>
              <a:buNone/>
            </a:pPr>
            <a:r>
              <a:rPr lang="en-US" dirty="0">
                <a:latin typeface="Arial"/>
              </a:rPr>
              <a:t>The identification of cattle and buffalo breeds in India is traditionally performed through manual observation, which is time-consuming, error-prone, and requires expert knowledge. Variations in animal appearance, image quality, and environmental conditions further reduce accuracy. This project aims to develop an automated image-based breed recognition system using deep learning techniques to accurately classify Indian cattle and buffalo breeds from images.</a:t>
            </a:r>
          </a:p>
        </p:txBody>
      </p:sp>
    </p:spTree>
    <p:extLst>
      <p:ext uri="{BB962C8B-B14F-4D97-AF65-F5344CB8AC3E}">
        <p14:creationId xmlns:p14="http://schemas.microsoft.com/office/powerpoint/2010/main" val="2637979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0C82D-0EA9-7594-4F32-887C97F5693D}"/>
              </a:ext>
            </a:extLst>
          </p:cNvPr>
          <p:cNvSpPr>
            <a:spLocks noGrp="1"/>
          </p:cNvSpPr>
          <p:nvPr>
            <p:ph type="title"/>
          </p:nvPr>
        </p:nvSpPr>
        <p:spPr/>
        <p:txBody>
          <a:bodyPr/>
          <a:lstStyle/>
          <a:p>
            <a:r>
              <a:rPr lang="en-US"/>
              <a:t>  Abstract</a:t>
            </a:r>
          </a:p>
        </p:txBody>
      </p:sp>
      <p:sp>
        <p:nvSpPr>
          <p:cNvPr id="3" name="Text Placeholder 2">
            <a:extLst>
              <a:ext uri="{FF2B5EF4-FFF2-40B4-BE49-F238E27FC236}">
                <a16:creationId xmlns:a16="http://schemas.microsoft.com/office/drawing/2014/main" id="{AC3F05AA-BE91-F131-0C22-25CD707F9DB4}"/>
              </a:ext>
            </a:extLst>
          </p:cNvPr>
          <p:cNvSpPr>
            <a:spLocks noGrp="1"/>
          </p:cNvSpPr>
          <p:nvPr>
            <p:ph type="body" idx="1"/>
          </p:nvPr>
        </p:nvSpPr>
        <p:spPr>
          <a:xfrm>
            <a:off x="812800" y="767221"/>
            <a:ext cx="10668000" cy="4953000"/>
          </a:xfrm>
        </p:spPr>
        <p:txBody>
          <a:bodyPr spcFirstLastPara="1" wrap="square" lIns="91425" tIns="45700" rIns="91425" bIns="45700" anchor="t" anchorCtr="0">
            <a:noAutofit/>
          </a:bodyPr>
          <a:lstStyle/>
          <a:p>
            <a:pPr>
              <a:buFont typeface="Wingdings"/>
              <a:buChar char="v"/>
            </a:pPr>
            <a:endParaRPr lang="en-US" sz="2000" dirty="0"/>
          </a:p>
          <a:p>
            <a:pPr>
              <a:buFont typeface="Wingdings"/>
              <a:buChar char="v"/>
            </a:pPr>
            <a:endParaRPr lang="en-US" sz="2000" dirty="0">
              <a:latin typeface="Arial"/>
              <a:cs typeface="Arial"/>
            </a:endParaRPr>
          </a:p>
          <a:p>
            <a:pPr>
              <a:lnSpc>
                <a:spcPct val="150000"/>
              </a:lnSpc>
            </a:pPr>
            <a:r>
              <a:rPr lang="en-US" sz="2000" dirty="0">
                <a:cs typeface="Arial"/>
              </a:rPr>
              <a:t>The project Image-Based Breed Recognition for Cattle uses deep learning techniques to automatically identify cattle breeds from images. A Convolutional Neural Network (CNN) model is trained on a dataset of labeled cattle images after preprocessing steps such as resizing and normalization. The model learns important visual features and classifies the breed accurately. This system reduces manual effort and human error in breed identification. It provides a fast and efficient solution for livestock management using artificial intelligence.</a:t>
            </a:r>
            <a:endParaRPr lang="en-US" sz="2000" dirty="0">
              <a:latin typeface="Arial"/>
              <a:cs typeface="Arial"/>
            </a:endParaRPr>
          </a:p>
          <a:p>
            <a:pPr>
              <a:lnSpc>
                <a:spcPct val="150000"/>
              </a:lnSpc>
              <a:buFont typeface="Wingdings"/>
              <a:buChar char="v"/>
            </a:pPr>
            <a:endParaRPr lang="en-US" sz="2000" dirty="0">
              <a:latin typeface="Arial"/>
              <a:cs typeface="Arial"/>
            </a:endParaRPr>
          </a:p>
        </p:txBody>
      </p:sp>
    </p:spTree>
    <p:extLst>
      <p:ext uri="{BB962C8B-B14F-4D97-AF65-F5344CB8AC3E}">
        <p14:creationId xmlns:p14="http://schemas.microsoft.com/office/powerpoint/2010/main" val="27105159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381CDF4-DB6D-9E82-8696-769DBF518EBC}"/>
              </a:ext>
            </a:extLst>
          </p:cNvPr>
          <p:cNvSpPr>
            <a:spLocks noGrp="1"/>
          </p:cNvSpPr>
          <p:nvPr>
            <p:ph type="body" idx="1"/>
          </p:nvPr>
        </p:nvSpPr>
        <p:spPr/>
        <p:txBody>
          <a:bodyPr>
            <a:normAutofit/>
          </a:bodyPr>
          <a:lstStyle/>
          <a:p>
            <a:pPr marL="76200" indent="0">
              <a:buNone/>
            </a:pPr>
            <a:endParaRPr lang="en-US" b="1" dirty="0"/>
          </a:p>
          <a:p>
            <a:pPr marL="76200" indent="0">
              <a:buNone/>
            </a:pPr>
            <a:r>
              <a:rPr lang="en-US" b="1"/>
              <a:t>What is CNN?</a:t>
            </a:r>
          </a:p>
          <a:p>
            <a:pPr marL="76200" indent="0">
              <a:buNone/>
            </a:pPr>
            <a:r>
              <a:rPr lang="en-US"/>
              <a:t>A Convolutional Neural Network (CNN) is a type of deep learning </a:t>
            </a:r>
            <a:r>
              <a:rPr lang="en-US" dirty="0"/>
              <a:t>algorithm mainly used for image recognition and classification.</a:t>
            </a:r>
            <a:endParaRPr lang="en-US" b="1" dirty="0"/>
          </a:p>
          <a:p>
            <a:pPr>
              <a:buFont typeface="Wingdings"/>
              <a:buChar char="v"/>
            </a:pPr>
            <a:endParaRPr lang="en-US" sz="2000" dirty="0">
              <a:latin typeface="Arial"/>
            </a:endParaRPr>
          </a:p>
          <a:p>
            <a:pPr marL="76200" indent="0">
              <a:buNone/>
            </a:pPr>
            <a:r>
              <a:rPr lang="en-US" b="1" dirty="0"/>
              <a:t>Why </a:t>
            </a:r>
            <a:r>
              <a:rPr lang="en-US" b="1"/>
              <a:t>CNN is </a:t>
            </a:r>
            <a:r>
              <a:rPr lang="en-US" b="1" dirty="0"/>
              <a:t> Used?</a:t>
            </a:r>
            <a:endParaRPr lang="en-US" sz="2000" b="1" dirty="0">
              <a:latin typeface="Arial"/>
            </a:endParaRPr>
          </a:p>
          <a:p>
            <a:r>
              <a:rPr lang="en-US" sz="2000"/>
              <a:t>Image classification</a:t>
            </a:r>
            <a:endParaRPr lang="en-US"/>
          </a:p>
          <a:p>
            <a:r>
              <a:rPr lang="en-US" sz="2000"/>
              <a:t>Face recognition</a:t>
            </a:r>
            <a:endParaRPr lang="en-US"/>
          </a:p>
          <a:p>
            <a:r>
              <a:rPr lang="en-US" sz="2000"/>
              <a:t>Object detection</a:t>
            </a:r>
            <a:endParaRPr lang="en-US"/>
          </a:p>
          <a:p>
            <a:r>
              <a:rPr lang="en-US" sz="2000"/>
              <a:t>Medical image analysis</a:t>
            </a:r>
            <a:endParaRPr lang="en-US"/>
          </a:p>
          <a:p>
            <a:r>
              <a:rPr lang="en-US" sz="2000"/>
              <a:t>Breed recognition </a:t>
            </a:r>
            <a:endParaRPr lang="en-US"/>
          </a:p>
          <a:p>
            <a:pPr>
              <a:buFont typeface="Wingdings"/>
              <a:buChar char="v"/>
            </a:pPr>
            <a:endParaRPr lang="en-US" sz="2000" dirty="0">
              <a:latin typeface="Arial"/>
            </a:endParaRPr>
          </a:p>
        </p:txBody>
      </p:sp>
    </p:spTree>
    <p:extLst>
      <p:ext uri="{BB962C8B-B14F-4D97-AF65-F5344CB8AC3E}">
        <p14:creationId xmlns:p14="http://schemas.microsoft.com/office/powerpoint/2010/main" val="39167408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1B9EE-927F-55E1-8646-C94F9857EA38}"/>
              </a:ext>
            </a:extLst>
          </p:cNvPr>
          <p:cNvSpPr>
            <a:spLocks noGrp="1"/>
          </p:cNvSpPr>
          <p:nvPr>
            <p:ph type="title"/>
          </p:nvPr>
        </p:nvSpPr>
        <p:spPr/>
        <p:txBody>
          <a:bodyPr/>
          <a:lstStyle/>
          <a:p>
            <a:r>
              <a:rPr lang="en-US"/>
              <a:t>Architecture </a:t>
            </a:r>
            <a:endParaRPr lang="en-US" dirty="0"/>
          </a:p>
        </p:txBody>
      </p:sp>
      <p:sp>
        <p:nvSpPr>
          <p:cNvPr id="3" name="Text Placeholder 2">
            <a:extLst>
              <a:ext uri="{FF2B5EF4-FFF2-40B4-BE49-F238E27FC236}">
                <a16:creationId xmlns:a16="http://schemas.microsoft.com/office/drawing/2014/main" id="{02FFCE2B-E0F9-788A-CB8D-B19ACC9F4628}"/>
              </a:ext>
            </a:extLst>
          </p:cNvPr>
          <p:cNvSpPr>
            <a:spLocks noGrp="1"/>
          </p:cNvSpPr>
          <p:nvPr>
            <p:ph type="body" idx="1"/>
          </p:nvPr>
        </p:nvSpPr>
        <p:spPr/>
        <p:txBody>
          <a:bodyPr>
            <a:normAutofit/>
          </a:bodyPr>
          <a:lstStyle/>
          <a:p>
            <a:pPr>
              <a:lnSpc>
                <a:spcPct val="150000"/>
              </a:lnSpc>
            </a:pPr>
            <a:endParaRPr lang="en-US" sz="2000" dirty="0">
              <a:latin typeface="Arial"/>
            </a:endParaRPr>
          </a:p>
        </p:txBody>
      </p:sp>
      <p:pic>
        <p:nvPicPr>
          <p:cNvPr id="4" name="Picture 3" descr="A diagram of a system&#10;&#10;AI-generated content may be incorrect.">
            <a:extLst>
              <a:ext uri="{FF2B5EF4-FFF2-40B4-BE49-F238E27FC236}">
                <a16:creationId xmlns:a16="http://schemas.microsoft.com/office/drawing/2014/main" id="{8ECD84EB-74DD-9BA0-6EFB-3DFAEFA5C0FE}"/>
              </a:ext>
            </a:extLst>
          </p:cNvPr>
          <p:cNvPicPr>
            <a:picLocks noChangeAspect="1"/>
          </p:cNvPicPr>
          <p:nvPr/>
        </p:nvPicPr>
        <p:blipFill>
          <a:blip r:embed="rId2"/>
          <a:stretch>
            <a:fillRect/>
          </a:stretch>
        </p:blipFill>
        <p:spPr>
          <a:xfrm>
            <a:off x="628911" y="0"/>
            <a:ext cx="10287000" cy="6858000"/>
          </a:xfrm>
          <a:prstGeom prst="rect">
            <a:avLst/>
          </a:prstGeom>
        </p:spPr>
      </p:pic>
    </p:spTree>
    <p:extLst>
      <p:ext uri="{BB962C8B-B14F-4D97-AF65-F5344CB8AC3E}">
        <p14:creationId xmlns:p14="http://schemas.microsoft.com/office/powerpoint/2010/main" val="9677243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6B12C07-B210-4CBC-712F-5469CDCE983A}"/>
              </a:ext>
            </a:extLst>
          </p:cNvPr>
          <p:cNvSpPr>
            <a:spLocks noGrp="1"/>
          </p:cNvSpPr>
          <p:nvPr>
            <p:ph type="body" idx="1"/>
          </p:nvPr>
        </p:nvSpPr>
        <p:spPr/>
        <p:txBody>
          <a:bodyPr>
            <a:normAutofit/>
          </a:bodyPr>
          <a:lstStyle/>
          <a:p>
            <a:endParaRPr lang="en-US" sz="2000" dirty="0"/>
          </a:p>
          <a:p>
            <a:r>
              <a:rPr lang="en-US"/>
              <a:t>1️⃣ Dataset Collection</a:t>
            </a:r>
            <a:endParaRPr lang="en-US" sz="2000" dirty="0"/>
          </a:p>
          <a:p>
            <a:r>
              <a:rPr lang="en-US" sz="2000"/>
              <a:t>Collected two cattle image datasets.</a:t>
            </a:r>
            <a:endParaRPr lang="en-US"/>
          </a:p>
          <a:p>
            <a:r>
              <a:rPr lang="en-US" sz="2000"/>
              <a:t>Datasets were downloaded in ZIP format.</a:t>
            </a:r>
            <a:endParaRPr lang="en-US"/>
          </a:p>
          <a:p>
            <a:r>
              <a:rPr lang="en-US" sz="2000"/>
              <a:t>Unzipped both datasets.</a:t>
            </a:r>
            <a:endParaRPr lang="en-US"/>
          </a:p>
          <a:p>
            <a:r>
              <a:rPr lang="en-US" sz="2000"/>
              <a:t>Merged them into one final dataset.</a:t>
            </a:r>
            <a:endParaRPr lang="en-US"/>
          </a:p>
          <a:p>
            <a:r>
              <a:rPr lang="en-US" sz="2000"/>
              <a:t>Organized images breed-wise in separate folders.</a:t>
            </a:r>
            <a:endParaRPr lang="en-US"/>
          </a:p>
          <a:p>
            <a:endParaRPr lang="en-US" sz="2000" dirty="0"/>
          </a:p>
          <a:p>
            <a:endParaRPr lang="en-US" sz="2000" dirty="0"/>
          </a:p>
          <a:p>
            <a:endParaRPr lang="en-US" sz="2000" dirty="0"/>
          </a:p>
        </p:txBody>
      </p:sp>
      <p:sp>
        <p:nvSpPr>
          <p:cNvPr id="5" name="Title 4">
            <a:extLst>
              <a:ext uri="{FF2B5EF4-FFF2-40B4-BE49-F238E27FC236}">
                <a16:creationId xmlns:a16="http://schemas.microsoft.com/office/drawing/2014/main" id="{91A36238-662C-510F-DA55-221DB10024D3}"/>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3783522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8B24757-5F11-99CD-0BAA-D1A8E987241A}"/>
              </a:ext>
            </a:extLst>
          </p:cNvPr>
          <p:cNvSpPr>
            <a:spLocks noGrp="1"/>
          </p:cNvSpPr>
          <p:nvPr>
            <p:ph type="body" idx="1"/>
          </p:nvPr>
        </p:nvSpPr>
        <p:spPr>
          <a:xfrm>
            <a:off x="656225" y="1195193"/>
            <a:ext cx="10668000" cy="4953000"/>
          </a:xfrm>
        </p:spPr>
        <p:txBody>
          <a:bodyPr>
            <a:normAutofit lnSpcReduction="10000"/>
          </a:bodyPr>
          <a:lstStyle/>
          <a:p>
            <a:r>
              <a:rPr lang="en-US" sz="2000" b="1">
                <a:latin typeface="Arial"/>
              </a:rPr>
              <a:t>Model Selection:</a:t>
            </a:r>
          </a:p>
          <a:p>
            <a:pPr marL="76200" indent="0">
              <a:buNone/>
            </a:pPr>
            <a:endParaRPr lang="en-US" sz="2000" dirty="0">
              <a:latin typeface="Arial"/>
            </a:endParaRPr>
          </a:p>
          <a:p>
            <a:pPr marL="76200" indent="0">
              <a:buNone/>
            </a:pPr>
            <a:r>
              <a:rPr lang="en-US" sz="2000">
                <a:latin typeface="Arial"/>
              </a:rPr>
              <a:t>Use a Convolutional Neural Network (CNN) or transfer learning models such as VGG16, </a:t>
            </a:r>
            <a:r>
              <a:rPr lang="en-US" sz="2000" dirty="0">
                <a:latin typeface="Arial"/>
              </a:rPr>
              <a:t>ResNet, or MobileNet for feature extraction.</a:t>
            </a:r>
            <a:endParaRPr lang="en-US"/>
          </a:p>
          <a:p>
            <a:pPr marL="76200" indent="0">
              <a:buNone/>
            </a:pPr>
            <a:endParaRPr lang="en-US" sz="2000" dirty="0">
              <a:latin typeface="Arial"/>
            </a:endParaRPr>
          </a:p>
          <a:p>
            <a:r>
              <a:rPr lang="en-US" sz="2000" b="1">
                <a:latin typeface="Arial"/>
              </a:rPr>
              <a:t>Model Training:</a:t>
            </a:r>
          </a:p>
          <a:p>
            <a:pPr marL="76200" indent="0">
              <a:buNone/>
            </a:pPr>
            <a:endParaRPr lang="en-US" sz="2000" dirty="0">
              <a:latin typeface="Arial"/>
            </a:endParaRPr>
          </a:p>
          <a:p>
            <a:pPr marL="76200" indent="0">
              <a:buNone/>
            </a:pPr>
            <a:r>
              <a:rPr lang="en-US" sz="2000">
                <a:latin typeface="Arial"/>
              </a:rPr>
              <a:t>Train the model using labeled images and optimize performance using appropriate loss </a:t>
            </a:r>
            <a:r>
              <a:rPr lang="en-US" sz="2000" dirty="0">
                <a:latin typeface="Arial"/>
              </a:rPr>
              <a:t>functions and optimizers.</a:t>
            </a:r>
            <a:endParaRPr lang="en-US"/>
          </a:p>
          <a:p>
            <a:pPr marL="76200" indent="0">
              <a:buNone/>
            </a:pPr>
            <a:endParaRPr lang="en-US" sz="2000" dirty="0">
              <a:latin typeface="Arial"/>
            </a:endParaRPr>
          </a:p>
          <a:p>
            <a:r>
              <a:rPr lang="en-US" sz="2000" b="1">
                <a:latin typeface="Arial"/>
              </a:rPr>
              <a:t>Breed Classification:</a:t>
            </a:r>
          </a:p>
          <a:p>
            <a:pPr marL="76200" indent="0">
              <a:buNone/>
            </a:pPr>
            <a:endParaRPr lang="en-US" sz="2000" dirty="0">
              <a:latin typeface="Arial"/>
            </a:endParaRPr>
          </a:p>
          <a:p>
            <a:pPr marL="76200" indent="0">
              <a:buNone/>
            </a:pPr>
            <a:r>
              <a:rPr lang="en-US" sz="2000">
                <a:latin typeface="Arial"/>
              </a:rPr>
              <a:t>Classify the input image into the corresponding cattle or buffalo breed using a softmax </a:t>
            </a:r>
            <a:r>
              <a:rPr lang="en-US" sz="2000" dirty="0">
                <a:latin typeface="Arial"/>
              </a:rPr>
              <a:t>output layer.</a:t>
            </a:r>
          </a:p>
          <a:p>
            <a:endParaRPr lang="en-US" sz="2000" dirty="0">
              <a:latin typeface="Arial"/>
            </a:endParaRPr>
          </a:p>
        </p:txBody>
      </p:sp>
    </p:spTree>
    <p:extLst>
      <p:ext uri="{BB962C8B-B14F-4D97-AF65-F5344CB8AC3E}">
        <p14:creationId xmlns:p14="http://schemas.microsoft.com/office/powerpoint/2010/main" val="32974379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8E8FDB8-DCD8-DC76-47EC-56266F04A9A1}"/>
              </a:ext>
            </a:extLst>
          </p:cNvPr>
          <p:cNvSpPr>
            <a:spLocks noGrp="1"/>
          </p:cNvSpPr>
          <p:nvPr>
            <p:ph type="body" idx="1"/>
          </p:nvPr>
        </p:nvSpPr>
        <p:spPr/>
        <p:txBody>
          <a:bodyPr/>
          <a:lstStyle/>
          <a:p>
            <a:endParaRPr lang="en-US"/>
          </a:p>
          <a:p>
            <a:r>
              <a:rPr lang="en-US" sz="2000" b="1">
                <a:latin typeface="Arial"/>
              </a:rPr>
              <a:t>Model Evaluation:</a:t>
            </a:r>
          </a:p>
          <a:p>
            <a:pPr marL="76200" indent="0">
              <a:buNone/>
            </a:pPr>
            <a:br>
              <a:rPr lang="en-US" sz="2000" dirty="0">
                <a:latin typeface="Arial"/>
              </a:rPr>
            </a:br>
            <a:r>
              <a:rPr lang="en-US" sz="2000">
                <a:latin typeface="Arial"/>
              </a:rPr>
              <a:t>Evaluate system performance using metrics such as accuracy, precision, recall, and </a:t>
            </a:r>
            <a:r>
              <a:rPr lang="en-US" sz="2000" dirty="0">
                <a:latin typeface="Arial"/>
              </a:rPr>
              <a:t>confusion matrix.</a:t>
            </a:r>
            <a:endParaRPr lang="en-US" dirty="0"/>
          </a:p>
          <a:p>
            <a:pPr marL="76200" indent="0">
              <a:buNone/>
            </a:pPr>
            <a:endParaRPr lang="en-US" sz="2000" dirty="0">
              <a:latin typeface="Arial"/>
            </a:endParaRPr>
          </a:p>
          <a:p>
            <a:r>
              <a:rPr lang="en-US" sz="2000" b="1">
                <a:latin typeface="Arial"/>
              </a:rPr>
              <a:t>Prediction Output:</a:t>
            </a:r>
          </a:p>
          <a:p>
            <a:pPr marL="76200" indent="0">
              <a:buNone/>
            </a:pPr>
            <a:br>
              <a:rPr lang="en-US" sz="2000" dirty="0">
                <a:latin typeface="Arial"/>
              </a:rPr>
            </a:br>
            <a:r>
              <a:rPr lang="en-US" sz="2000">
                <a:latin typeface="Arial"/>
              </a:rPr>
              <a:t>Display the predicted breed name with confidence score as the final output.</a:t>
            </a:r>
            <a:endParaRPr lang="en-US"/>
          </a:p>
          <a:p>
            <a:endParaRPr lang="en-US" dirty="0"/>
          </a:p>
        </p:txBody>
      </p:sp>
    </p:spTree>
    <p:extLst>
      <p:ext uri="{BB962C8B-B14F-4D97-AF65-F5344CB8AC3E}">
        <p14:creationId xmlns:p14="http://schemas.microsoft.com/office/powerpoint/2010/main" val="11736484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a:lnSpc>
                <a:spcPct val="200000"/>
              </a:lnSpc>
            </a:pPr>
            <a:r>
              <a:rPr lang="en-US" dirty="0">
                <a:latin typeface="Cambria"/>
                <a:ea typeface="Cambria"/>
              </a:rPr>
              <a:t>Software  Requirements: </a:t>
            </a:r>
            <a:endParaRPr lang="en-US" dirty="0">
              <a:latin typeface="Cambria" panose="02040503050406030204" pitchFamily="18" charset="0"/>
              <a:ea typeface="Cambria" panose="02040503050406030204" pitchFamily="18" charset="0"/>
            </a:endParaRPr>
          </a:p>
        </p:txBody>
      </p:sp>
      <p:sp>
        <p:nvSpPr>
          <p:cNvPr id="4" name="Text Placeholder 3">
            <a:extLst>
              <a:ext uri="{FF2B5EF4-FFF2-40B4-BE49-F238E27FC236}">
                <a16:creationId xmlns:a16="http://schemas.microsoft.com/office/drawing/2014/main" id="{A3B32617-A12E-4880-9F86-BB6C3BF73C1B}"/>
              </a:ext>
            </a:extLst>
          </p:cNvPr>
          <p:cNvSpPr>
            <a:spLocks noGrp="1"/>
          </p:cNvSpPr>
          <p:nvPr>
            <p:ph type="body" idx="1"/>
          </p:nvPr>
        </p:nvSpPr>
        <p:spPr>
          <a:xfrm>
            <a:off x="405704" y="955110"/>
            <a:ext cx="10668000" cy="5892452"/>
          </a:xfrm>
        </p:spPr>
        <p:txBody>
          <a:bodyPr spcFirstLastPara="1" wrap="square" lIns="91425" tIns="45700" rIns="91425" bIns="45700" anchor="t" anchorCtr="0">
            <a:noAutofit/>
          </a:bodyPr>
          <a:lstStyle/>
          <a:p>
            <a:pPr>
              <a:buAutoNum type="arabicPeriod"/>
            </a:pPr>
            <a:endParaRPr lang="en-US" sz="2000" b="1" dirty="0"/>
          </a:p>
          <a:p>
            <a:pPr marL="533400" indent="-457200">
              <a:buAutoNum type="arabicPeriod"/>
            </a:pPr>
            <a:r>
              <a:rPr lang="en-US" sz="2000"/>
              <a:t>Operating System:</a:t>
            </a:r>
            <a:endParaRPr lang="en-US" sz="2000">
              <a:latin typeface="Arial"/>
            </a:endParaRPr>
          </a:p>
          <a:p>
            <a:pPr marL="76200" indent="0">
              <a:buNone/>
            </a:pPr>
            <a:r>
              <a:rPr lang="en-US" sz="2000"/>
              <a:t>Windows / Linux / macOS</a:t>
            </a:r>
            <a:endParaRPr lang="en-US" sz="2000">
              <a:latin typeface="Arial"/>
            </a:endParaRPr>
          </a:p>
          <a:p>
            <a:pPr marL="533400" indent="-457200">
              <a:buAutoNum type="arabicPeriod"/>
            </a:pPr>
            <a:endParaRPr lang="en-US" sz="2000" dirty="0"/>
          </a:p>
          <a:p>
            <a:pPr marL="76200" indent="0">
              <a:buNone/>
            </a:pPr>
            <a:r>
              <a:rPr lang="en-US" sz="2000"/>
              <a:t>2. Programming Language:</a:t>
            </a:r>
            <a:endParaRPr lang="en-US" sz="2000" dirty="0"/>
          </a:p>
          <a:p>
            <a:pPr marL="76200" indent="0">
              <a:buNone/>
            </a:pPr>
            <a:r>
              <a:rPr lang="en-US" sz="2000"/>
              <a:t> Python 3.x</a:t>
            </a:r>
            <a:endParaRPr lang="en-US" sz="2000" dirty="0"/>
          </a:p>
          <a:p>
            <a:pPr marL="533400" indent="-457200">
              <a:buAutoNum type="arabicPeriod"/>
            </a:pPr>
            <a:endParaRPr lang="en-US" sz="2000" dirty="0"/>
          </a:p>
          <a:p>
            <a:pPr marL="76200" indent="0">
              <a:buNone/>
            </a:pPr>
            <a:r>
              <a:rPr lang="en-US" sz="2000"/>
              <a:t>3. Development Environment:</a:t>
            </a:r>
            <a:endParaRPr lang="en-US"/>
          </a:p>
          <a:p>
            <a:pPr marL="76200" indent="0">
              <a:buNone/>
            </a:pPr>
            <a:r>
              <a:rPr lang="en-US" sz="2000"/>
              <a:t>Jupyter Notebook / Google Colab / VS Code / PyCharm</a:t>
            </a:r>
            <a:endParaRPr lang="en-US" sz="2000" dirty="0"/>
          </a:p>
          <a:p>
            <a:pPr marL="533400" indent="-457200">
              <a:buAutoNum type="arabicPeriod"/>
            </a:pPr>
            <a:endParaRPr lang="en-US" sz="2000" dirty="0"/>
          </a:p>
          <a:p>
            <a:pPr marL="76200" indent="0">
              <a:buNone/>
            </a:pPr>
            <a:r>
              <a:rPr lang="en-US" sz="2000"/>
              <a:t>4. Deep Learning Framework:</a:t>
            </a:r>
            <a:endParaRPr lang="en-US"/>
          </a:p>
          <a:p>
            <a:pPr marL="76200" indent="0">
              <a:buNone/>
            </a:pPr>
            <a:r>
              <a:rPr lang="en-US" sz="2000"/>
              <a:t>TensorFlow with Keras / PyTorch</a:t>
            </a:r>
            <a:endParaRPr lang="en-US"/>
          </a:p>
          <a:p>
            <a:pPr>
              <a:buAutoNum type="arabicPeriod"/>
            </a:pPr>
            <a:endParaRPr lang="en-US" sz="2000" dirty="0">
              <a:latin typeface="Arial"/>
            </a:endParaRPr>
          </a:p>
        </p:txBody>
      </p:sp>
    </p:spTree>
    <p:extLst>
      <p:ext uri="{BB962C8B-B14F-4D97-AF65-F5344CB8AC3E}">
        <p14:creationId xmlns:p14="http://schemas.microsoft.com/office/powerpoint/2010/main" val="10308161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DC0AA8A-D4D7-B6A6-77C1-96C1C6053621}"/>
              </a:ext>
            </a:extLst>
          </p:cNvPr>
          <p:cNvSpPr>
            <a:spLocks noGrp="1"/>
          </p:cNvSpPr>
          <p:nvPr>
            <p:ph type="body" idx="1"/>
          </p:nvPr>
        </p:nvSpPr>
        <p:spPr>
          <a:xfrm>
            <a:off x="812800" y="767220"/>
            <a:ext cx="10668000" cy="4953000"/>
          </a:xfrm>
        </p:spPr>
        <p:txBody>
          <a:bodyPr/>
          <a:lstStyle/>
          <a:p>
            <a:pPr>
              <a:buAutoNum type="arabicPeriod"/>
            </a:pPr>
            <a:endParaRPr lang="en-US"/>
          </a:p>
          <a:p>
            <a:pPr>
              <a:buAutoNum type="arabicPeriod"/>
            </a:pPr>
            <a:endParaRPr lang="en-US" sz="2000" b="1" dirty="0">
              <a:latin typeface="Arial"/>
            </a:endParaRPr>
          </a:p>
          <a:p>
            <a:pPr marL="76200" indent="0">
              <a:buNone/>
            </a:pPr>
            <a:r>
              <a:rPr lang="en-US" sz="2000">
                <a:latin typeface="Arial"/>
              </a:rPr>
              <a:t>5. Image Processing Library:</a:t>
            </a:r>
            <a:br>
              <a:rPr lang="en-US" sz="2000" dirty="0">
                <a:latin typeface="Arial"/>
              </a:rPr>
            </a:br>
            <a:r>
              <a:rPr lang="en-US" sz="2000">
                <a:latin typeface="Arial"/>
              </a:rPr>
              <a:t> OpenCV</a:t>
            </a:r>
          </a:p>
          <a:p>
            <a:pPr marL="533400" indent="-457200">
              <a:buAutoNum type="arabicPeriod"/>
            </a:pPr>
            <a:endParaRPr lang="en-US" sz="2000" dirty="0">
              <a:latin typeface="Arial"/>
            </a:endParaRPr>
          </a:p>
          <a:p>
            <a:pPr marL="76200" indent="0">
              <a:buNone/>
            </a:pPr>
            <a:r>
              <a:rPr lang="en-US" sz="2000">
                <a:latin typeface="Arial"/>
              </a:rPr>
              <a:t>6. Supporting Libraries:</a:t>
            </a:r>
            <a:br>
              <a:rPr lang="en-US" sz="2000" dirty="0">
                <a:latin typeface="Arial"/>
              </a:rPr>
            </a:br>
            <a:r>
              <a:rPr lang="en-US" sz="2000">
                <a:latin typeface="Arial"/>
              </a:rPr>
              <a:t> NumPy, Pandas, Matplotlib, Scikit-learn</a:t>
            </a:r>
          </a:p>
          <a:p>
            <a:pPr marL="533400" indent="-457200">
              <a:buAutoNum type="arabicPeriod"/>
            </a:pPr>
            <a:endParaRPr lang="en-US" sz="2000" dirty="0">
              <a:latin typeface="Arial"/>
            </a:endParaRPr>
          </a:p>
          <a:p>
            <a:pPr marL="76200" indent="0">
              <a:buNone/>
            </a:pPr>
            <a:r>
              <a:rPr lang="en-US" sz="2000">
                <a:latin typeface="Arial"/>
              </a:rPr>
              <a:t>7. Dataset Source:</a:t>
            </a:r>
            <a:br>
              <a:rPr lang="en-US" sz="2000" dirty="0">
                <a:latin typeface="Arial"/>
              </a:rPr>
            </a:br>
            <a:r>
              <a:rPr lang="en-US" sz="2000">
                <a:latin typeface="Arial"/>
              </a:rPr>
              <a:t> Kaggle / Government livestock portals / Custom collected images</a:t>
            </a:r>
          </a:p>
          <a:p>
            <a:pPr marL="533400" indent="-457200">
              <a:buAutoNum type="arabicPeriod"/>
            </a:pPr>
            <a:endParaRPr lang="en-US" sz="2000" dirty="0">
              <a:latin typeface="Arial"/>
            </a:endParaRPr>
          </a:p>
        </p:txBody>
      </p:sp>
    </p:spTree>
    <p:extLst>
      <p:ext uri="{BB962C8B-B14F-4D97-AF65-F5344CB8AC3E}">
        <p14:creationId xmlns:p14="http://schemas.microsoft.com/office/powerpoint/2010/main" val="37524290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pic>
        <p:nvPicPr>
          <p:cNvPr id="3" name="Picture 2" descr="A chart with blue rectangles&#10;&#10;AI-generated content may be incorrect.">
            <a:extLst>
              <a:ext uri="{FF2B5EF4-FFF2-40B4-BE49-F238E27FC236}">
                <a16:creationId xmlns:a16="http://schemas.microsoft.com/office/drawing/2014/main" id="{6D6A33AB-2C60-2A40-8DB9-3372CF449DEE}"/>
              </a:ext>
            </a:extLst>
          </p:cNvPr>
          <p:cNvPicPr>
            <a:picLocks noChangeAspect="1"/>
          </p:cNvPicPr>
          <p:nvPr/>
        </p:nvPicPr>
        <p:blipFill>
          <a:blip r:embed="rId3"/>
          <a:stretch>
            <a:fillRect/>
          </a:stretch>
        </p:blipFill>
        <p:spPr>
          <a:xfrm>
            <a:off x="1063221" y="1137780"/>
            <a:ext cx="9637585" cy="4592878"/>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3" name="Text Placeholder 2">
            <a:extLst>
              <a:ext uri="{FF2B5EF4-FFF2-40B4-BE49-F238E27FC236}">
                <a16:creationId xmlns:a16="http://schemas.microsoft.com/office/drawing/2014/main" id="{352FB0C9-E0BF-B37D-C40C-AA2E54DD063F}"/>
              </a:ext>
            </a:extLst>
          </p:cNvPr>
          <p:cNvSpPr>
            <a:spLocks noGrp="1"/>
          </p:cNvSpPr>
          <p:nvPr>
            <p:ph type="body" idx="1"/>
          </p:nvPr>
        </p:nvSpPr>
        <p:spPr/>
        <p:txBody>
          <a:bodyPr>
            <a:normAutofit fontScale="92500" lnSpcReduction="10000"/>
          </a:bodyPr>
          <a:lstStyle/>
          <a:p>
            <a:pPr>
              <a:buAutoNum type="arabicPeriod"/>
            </a:pPr>
            <a:endParaRPr lang="en-US"/>
          </a:p>
          <a:p>
            <a:pPr marL="533400" indent="-457200">
              <a:buAutoNum type="arabicPeriod"/>
            </a:pPr>
            <a:r>
              <a:rPr lang="en-US" dirty="0">
                <a:latin typeface="Arial"/>
              </a:rPr>
              <a:t> A. B. Valsang and A. Keshi, “Image Based Breed Recognition for Cattle and Buffaloes Using AI,” </a:t>
            </a:r>
            <a:r>
              <a:rPr lang="en-US" i="1" dirty="0">
                <a:latin typeface="Arial"/>
              </a:rPr>
              <a:t>Int. J. Innov. Res. Technol.</a:t>
            </a:r>
            <a:r>
              <a:rPr lang="en-US" dirty="0">
                <a:latin typeface="Arial"/>
              </a:rPr>
              <a:t>, vol. 12, no. 8, Jan. 2026.</a:t>
            </a:r>
          </a:p>
          <a:p>
            <a:pPr marL="533400" indent="-457200">
              <a:buAutoNum type="arabicPeriod"/>
            </a:pPr>
            <a:endParaRPr lang="en-US" dirty="0">
              <a:latin typeface="Arial"/>
            </a:endParaRPr>
          </a:p>
          <a:p>
            <a:pPr marL="533400" indent="-457200">
              <a:buAutoNum type="arabicPeriod"/>
            </a:pPr>
            <a:r>
              <a:rPr lang="en-US">
                <a:latin typeface="Arial"/>
              </a:rPr>
              <a:t>H. Gupta, P. Jindal, O. P. Verma, and R. K. Arya, “Computer Vision-Based </a:t>
            </a:r>
            <a:r>
              <a:rPr lang="en-US" dirty="0">
                <a:latin typeface="Arial"/>
              </a:rPr>
              <a:t>Approach for Automatic Detection of Dairy Cow Breed,” </a:t>
            </a:r>
            <a:r>
              <a:rPr lang="en-US" i="1" dirty="0">
                <a:latin typeface="Arial"/>
              </a:rPr>
              <a:t>Electronics</a:t>
            </a:r>
            <a:r>
              <a:rPr lang="en-US" dirty="0">
                <a:latin typeface="Arial"/>
              </a:rPr>
              <a:t>, vol. 11, no. 22, p. 3791, 2022.</a:t>
            </a:r>
          </a:p>
          <a:p>
            <a:pPr marL="533400" indent="-457200">
              <a:buAutoNum type="arabicPeriod"/>
            </a:pPr>
            <a:endParaRPr lang="en-US" dirty="0">
              <a:latin typeface="Arial"/>
            </a:endParaRPr>
          </a:p>
          <a:p>
            <a:pPr marL="533400" indent="-457200">
              <a:buAutoNum type="arabicPeriod"/>
            </a:pPr>
            <a:r>
              <a:rPr lang="en-US" dirty="0">
                <a:latin typeface="Arial"/>
              </a:rPr>
              <a:t> Y. Pan et al., “Identification of Buffalo Breeds Using Self-Activated-Based Improved Convolutional Neural Networks,” </a:t>
            </a:r>
            <a:r>
              <a:rPr lang="en-US" i="1" dirty="0">
                <a:latin typeface="Arial"/>
              </a:rPr>
              <a:t>Agriculture</a:t>
            </a:r>
            <a:r>
              <a:rPr lang="en-US" dirty="0">
                <a:latin typeface="Arial"/>
              </a:rPr>
              <a:t>, MDPI, 2022.</a:t>
            </a:r>
          </a:p>
          <a:p>
            <a:pPr marL="533400" indent="-457200">
              <a:buAutoNum type="arabicPeriod"/>
            </a:pPr>
            <a:endParaRPr lang="en-US" dirty="0">
              <a:latin typeface="Arial"/>
            </a:endParaRPr>
          </a:p>
          <a:p>
            <a:pPr marL="533400" indent="-457200">
              <a:buAutoNum type="arabicPeriod"/>
            </a:pPr>
            <a:r>
              <a:rPr lang="en-US">
                <a:latin typeface="Arial"/>
              </a:rPr>
              <a:t>A. Ait Achour and A. Mourhir, “Automated Recognition of Cattle’s Breed </a:t>
            </a:r>
            <a:r>
              <a:rPr lang="en-US" dirty="0">
                <a:latin typeface="Arial"/>
              </a:rPr>
              <a:t>Through Computer Vision,” in </a:t>
            </a:r>
            <a:r>
              <a:rPr lang="en-US" i="1" dirty="0">
                <a:latin typeface="Arial"/>
              </a:rPr>
              <a:t>Proc. 6th Int. Conf. Intelligent Computing in Data Sciences (ICDS)</a:t>
            </a:r>
            <a:r>
              <a:rPr lang="en-US" dirty="0">
                <a:latin typeface="Arial"/>
              </a:rPr>
              <a:t>, 2024,</a:t>
            </a:r>
          </a:p>
          <a:p>
            <a:pPr>
              <a:buAutoNum type="arabicPeriod"/>
            </a:pPr>
            <a:endParaRPr lang="en-US" dirty="0">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221</TotalTime>
  <Words>288</Words>
  <Application>Microsoft Office PowerPoint</Application>
  <PresentationFormat>Widescreen</PresentationFormat>
  <Paragraphs>67</Paragraphs>
  <Slides>15</Slides>
  <Notes>8</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Bioinformatics</vt:lpstr>
      <vt:lpstr>Image based breed recognition for cattle and buffaloes  of  India</vt:lpstr>
      <vt:lpstr>Problem Statement Number:   SIH25004</vt:lpstr>
      <vt:lpstr>Content</vt:lpstr>
      <vt:lpstr>Problem Statement:</vt:lpstr>
      <vt:lpstr>  Abstract</vt:lpstr>
      <vt:lpstr>PowerPoint Presentation</vt:lpstr>
      <vt:lpstr>Architecture </vt:lpstr>
      <vt:lpstr>PowerPoint Presentation</vt:lpstr>
      <vt:lpstr>PowerPoint Presentation</vt:lpstr>
      <vt:lpstr>PowerPoint Presentation</vt:lpstr>
      <vt:lpstr>Software  Requirements: </vt:lpstr>
      <vt:lpstr>PowerPoint Presentation</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admin</cp:lastModifiedBy>
  <cp:revision>950</cp:revision>
  <dcterms:modified xsi:type="dcterms:W3CDTF">2026-04-08T14:22:43Z</dcterms:modified>
</cp:coreProperties>
</file>